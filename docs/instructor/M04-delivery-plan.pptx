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DECK IS</a:t>
            </a:r>
          </a:p>
          <a:p/>
          <a:p>
            <a:r>
              <a:t>Your delivery plan, not teaching material. Nothing here goes on the</a:t>
            </a:r>
          </a:p>
          <a:p>
            <a:r>
              <a:t>projector in front of participants -- the projector shows your TERMINAL</a:t>
            </a:r>
          </a:p>
          <a:p>
            <a:r>
              <a:t>and the /about page. This deck is what you read beforehand and glance at</a:t>
            </a:r>
          </a:p>
          <a:p>
            <a:r>
              <a:t>between stages.</a:t>
            </a:r>
          </a:p>
          <a:p/>
          <a:p>
            <a:r>
              <a:t>The depth is in these notes. The slides are thin on purpose.</a:t>
            </a:r>
          </a:p>
          <a:p/>
          <a:p>
            <a:r>
              <a:t>BEFORE THE ROOM FILLS -- three things that are yours alone:</a:t>
            </a:r>
          </a:p>
          <a:p/>
          <a:p>
            <a:r>
              <a:t>1. Two windows. Terminal on the projector, this deck on your laptop.</a:t>
            </a:r>
          </a:p>
          <a:p>
            <a:r>
              <a:t>2. /about open in a tab on the reference deployment. That is your opener</a:t>
            </a:r>
          </a:p>
          <a:p>
            <a:r>
              <a:t>   and it means you recite nothing from memory.</a:t>
            </a:r>
          </a:p>
          <a:p>
            <a:r>
              <a:t>3. Your own Codespace already warm -- dependencies installed, `claude`</a:t>
            </a:r>
          </a:p>
          <a:p>
            <a:r>
              <a:t>   running. A cold start at 0:10 in front of a room is four dead minutes.</a:t>
            </a:r>
          </a:p>
          <a:p/>
          <a:p>
            <a:r>
              <a:t>AND: tell the roamer and the mentor the one rule (slide 3) OUT LOUD before</a:t>
            </a:r>
          </a:p>
          <a:p>
            <a:r>
              <a:t>anyone sits down. A well-meaning mentor who answers "what should we set</a:t>
            </a:r>
          </a:p>
          <a:p>
            <a:r>
              <a:t>MIN_SCORE to?" with a number has just cut the spine out of stage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ROAMER'S JOB IS NOT TO HELP. IT IS TO NOTICE.</a:t>
            </a:r>
          </a:p>
          <a:p/>
          <a:p>
            <a:r>
              <a:t>Say this to them directly. A table that is stuck and knows it will raise a</a:t>
            </a:r>
          </a:p>
          <a:p>
            <a:r>
              <a:t>hand -- that table is fine. The table that costs you the room is the one</a:t>
            </a:r>
          </a:p>
          <a:p>
            <a:r>
              <a:t>confidently building the wrong thing at 1:10, and the ONLY way to find it</a:t>
            </a:r>
          </a:p>
          <a:p>
            <a:r>
              <a:t>is to read their screen at 0:50.</a:t>
            </a:r>
          </a:p>
          <a:p/>
          <a:p>
            <a:r>
              <a:t>So the roamer reads screens. Constantly. They are looking for a gap between</a:t>
            </a:r>
          </a:p>
          <a:p>
            <a:r>
              <a:t>what a table thinks it is doing and what is on the monitor.</a:t>
            </a:r>
          </a:p>
          <a:p/>
          <a:p>
            <a:r>
              <a:t>THE MENTOR IS YOUR CLOCK INSURANCE.</a:t>
            </a:r>
          </a:p>
          <a:p/>
          <a:p>
            <a:r>
              <a:t>There are two moments you physically cannot be at the front: gate 1 (0:25,</a:t>
            </a:r>
          </a:p>
          <a:p>
            <a:r>
              <a:t>you are at five tables) and gate 2 (2:15, same). The mentor holds the room</a:t>
            </a:r>
          </a:p>
          <a:p>
            <a:r>
              <a:t>and, critically, CALLS TIME ON YOU. Give them explicit permission now:</a:t>
            </a:r>
          </a:p>
          <a:p/>
          <a:p>
            <a:r>
              <a:t>   "At 0:43, call it, wherever I am. Stage 03 cannot be short."</a:t>
            </a:r>
          </a:p>
          <a:p/>
          <a:p>
            <a:r>
              <a:t>Without that, gate 1 eats the build, and the build is where they learn to</a:t>
            </a:r>
          </a:p>
          <a:p>
            <a:r>
              <a:t>drive the agent.</a:t>
            </a:r>
          </a:p>
          <a:p/>
          <a:p>
            <a:r>
              <a:t>ONE KEYBOARD PER TABLE. The roamer enforces this in the first five minutes.</a:t>
            </a:r>
          </a:p>
          <a:p>
            <a:r>
              <a:t>Five laptops open at one table produces five half-builds and no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MATTERS MOST. If you remember one thing from this</a:t>
            </a:r>
          </a:p>
          <a:p>
            <a:r>
              <a:t>deck, it is this one.</a:t>
            </a:r>
          </a:p>
          <a:p/>
          <a:p>
            <a:r>
              <a:t>You are building the same product, at the front, at the same time as they</a:t>
            </a:r>
          </a:p>
          <a:p>
            <a:r>
              <a:t>build it. That is the right call -- a room that has never seen stage 01 done</a:t>
            </a:r>
          </a:p>
          <a:p>
            <a:r>
              <a:t>once will spend twelve of its fifteen minutes working out what a stage IS.</a:t>
            </a:r>
          </a:p>
          <a:p/>
          <a:p>
            <a:r>
              <a:t>But side-by-side has one failure mode, and it is fatal: they stop deciding</a:t>
            </a:r>
          </a:p>
          <a:p>
            <a:r>
              <a:t>and start copying. PRD section 10 leaves ten decisions deliberately open</a:t>
            </a:r>
          </a:p>
          <a:p>
            <a:r>
              <a:t>(embedding model, chunking, threshold, how many passages, what to do with</a:t>
            </a:r>
          </a:p>
          <a:p>
            <a:r>
              <a:t>superseded policy, what to do when two policies conflict, and so on). Those</a:t>
            </a:r>
          </a:p>
          <a:p>
            <a:r>
              <a:t>ten decisions ARE the assessment. At 2:15 you ask "why this threshold?" and</a:t>
            </a:r>
          </a:p>
          <a:p>
            <a:r>
              <a:t>"the agent chose it" is a failed answer -- so is "you said 0.35".</a:t>
            </a:r>
          </a:p>
          <a:p/>
          <a:p>
            <a:r>
              <a:t>SO THE RHYTHM FOR EVERY STAGE IS THREE BEATS:</a:t>
            </a:r>
          </a:p>
          <a:p/>
          <a:p>
            <a:r>
              <a:t>  1. You do the move on the projector. Two to three minutes. "Watch this."</a:t>
            </a:r>
          </a:p>
          <a:p>
            <a:r>
              <a:t>  2. They do it with THEIR content. Ten-plus minutes. You go quiet, the</a:t>
            </a:r>
          </a:p>
          <a:p>
            <a:r>
              <a:t>     roamer works the floor.</a:t>
            </a:r>
          </a:p>
          <a:p>
            <a:r>
              <a:t>  3. You show what it produced -- and SAY IT SHOULD NOT MATCH THEIRS.</a:t>
            </a:r>
          </a:p>
          <a:p/>
          <a:p>
            <a:r>
              <a:t>That third beat is the one people skip, and it is the one that stops the</a:t>
            </a:r>
          </a:p>
          <a:p>
            <a:r>
              <a:t>room hunting for the right answer. Say out loud: "mine looks like this.</a:t>
            </a:r>
          </a:p>
          <a:p>
            <a:r>
              <a:t>Yours won't, and that's correct."</a:t>
            </a:r>
          </a:p>
          <a:p/>
          <a:p>
            <a:r>
              <a:t>WHEN THEY PUSH -- and they will, around 0:30:</a:t>
            </a:r>
          </a:p>
          <a:p/>
          <a:p>
            <a:r>
              <a:t>   "I'm not going to tell you, and at 2:15 you'll be glad I didn't."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/about PAGE ON THE REFERENCE DEPLOYMENT. Do not present from</a:t>
            </a:r>
          </a:p>
          <a:p>
            <a:r>
              <a:t>memory -- the page exists so you don't have to.</a:t>
            </a:r>
          </a:p>
          <a:p/>
          <a:p>
            <a:r>
              <a:t>RECAP ONLY M03. Not M01 and M02 in any detail. One line each, then move.</a:t>
            </a:r>
          </a:p>
          <a:p>
            <a:r>
              <a:t>The room was there; what they need is the handoff into today.</a:t>
            </a:r>
          </a:p>
          <a:p/>
          <a:p>
            <a:r>
              <a:t>SCROLL SLOWLY THROUGH THE SIX STAGES AND STOP ON BOTH GATES.</a:t>
            </a:r>
          </a:p>
          <a:p>
            <a:r>
              <a:t>"Twice today, a human says yes or no. I am that human." Point at yourself.</a:t>
            </a:r>
          </a:p>
          <a:p>
            <a:r>
              <a:t>They should know before they start that approval is coming.</a:t>
            </a:r>
          </a:p>
          <a:p/>
          <a:p>
            <a:r>
              <a:t>READ THE DEFINITION OF DONE OFF THE SCREEN, verbatim -- PRD section 12:</a:t>
            </a:r>
          </a:p>
          <a:p/>
          <a:p>
            <a:r>
              <a:t>   "Build the whole product, F1 to F8, and release it in one pull request.</a:t>
            </a:r>
          </a:p>
          <a:p>
            <a:r>
              <a:t>    But you are done when you have completed all six stages and deployed</a:t>
            </a:r>
          </a:p>
          <a:p>
            <a:r>
              <a:t>    that increment to your own URL. Not when the product is</a:t>
            </a:r>
          </a:p>
          <a:p>
            <a:r>
              <a:t>    feature-complete. CUT SCOPE, NEVER A STAGE."</a:t>
            </a:r>
          </a:p>
          <a:p/>
          <a:p>
            <a:r>
              <a:t>That is the sentence the entire day hangs off. You will say it again at</a:t>
            </a:r>
          </a:p>
          <a:p>
            <a:r>
              <a:t>1:15 and again at 2:20.</a:t>
            </a:r>
          </a:p>
          <a:p/>
          <a:p>
            <a:r>
              <a:t>THE LINE THAT SETS UP THE WHOLE SESSION -- land this one:</a:t>
            </a:r>
          </a:p>
          <a:p/>
          <a:p>
            <a:r>
              <a:t>   "Your agent is going to be faster than you all morning. Twice, it is</a:t>
            </a:r>
          </a:p>
          <a:p>
            <a:r>
              <a:t>    going to be faster than you in the WRONG DIRECTION. Those two moments</a:t>
            </a:r>
          </a:p>
          <a:p>
            <a:r>
              <a:t>    are the module."</a:t>
            </a:r>
          </a:p>
          <a:p/>
          <a:p>
            <a:r>
              <a:t>WATCH FOR: nobody opens START-HERE.md. Say the filename twice. Have the</a:t>
            </a:r>
          </a:p>
          <a:p>
            <a:r>
              <a:t>roamer confirm all five screens are on it by 0:12.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PROJECTOR, ~3 MINUTES:</a:t>
            </a:r>
          </a:p>
          <a:p/>
          <a:p>
            <a:r>
              <a:t>Paste your shape prompt, let the agent produce its five-line summary of</a:t>
            </a:r>
          </a:p>
          <a:p>
            <a:r>
              <a:t>what it thinks you're building, then say:</a:t>
            </a:r>
          </a:p>
          <a:p/>
          <a:p>
            <a:r>
              <a:t>   "Look what it did. It told me what it thinks we're building and asked</a:t>
            </a:r>
          </a:p>
          <a:p>
            <a:r>
              <a:t>    me to correct it -- BEFORE writing a line. That is the whole stage.</a:t>
            </a:r>
          </a:p>
          <a:p>
            <a:r>
              <a:t>    You are not getting requirements from the agent. You are giving them</a:t>
            </a:r>
          </a:p>
          <a:p>
            <a:r>
              <a:t>    to it, in your words, so that later you can say whether they were met."</a:t>
            </a:r>
          </a:p>
          <a:p/>
          <a:p>
            <a:r>
              <a:t>CHECK THE SUMMARY MENTIONS REFUSAL. If the agent's summary doesn't mention</a:t>
            </a:r>
          </a:p>
          <a:p>
            <a:r>
              <a:t>that the product declines when the corpus can't support an answer, say so</a:t>
            </a:r>
          </a:p>
          <a:p>
            <a:r>
              <a:t>out loud -- that's a finding, and the build will drift toward a chatbot</a:t>
            </a:r>
          </a:p>
          <a:p>
            <a:r>
              <a:t>that never says no.</a:t>
            </a:r>
          </a:p>
          <a:p/>
          <a:p>
            <a:r>
              <a:t>THEN STOP SHARING AND GO QUIET. Twelve minutes.</a:t>
            </a:r>
          </a:p>
          <a:p/>
          <a:p>
            <a:r>
              <a:t>ROAMER -- three screens to read, and what each means:</a:t>
            </a:r>
          </a:p>
          <a:p/>
          <a:p>
            <a:r>
              <a:t>  * Agent wrote the criteria, team said "yes, looks good"</a:t>
            </a:r>
          </a:p>
          <a:p>
            <a:r>
              <a:t>      -&gt; the stage failed silently. Ask only: "Whose words are those?"</a:t>
            </a:r>
          </a:p>
          <a:p>
            <a:r>
              <a:t>  * Criteria that cannot fail -- "the system is reliable"</a:t>
            </a:r>
          </a:p>
          <a:p>
            <a:r>
              <a:t>      -&gt; untestable. Ask: "Show me the test that proves that."</a:t>
            </a:r>
          </a:p>
          <a:p>
            <a:r>
              <a:t>  * The table is ARGUING about what "refuses" means</a:t>
            </a:r>
          </a:p>
          <a:p>
            <a:r>
              <a:t>      -&gt; this is the stage working. Walk away. Do not help.</a:t>
            </a:r>
          </a:p>
          <a:p/>
          <a:p>
            <a:r>
              <a:t>MENTOR takes "how precise should the criteria be?" The answer:</a:t>
            </a:r>
          </a:p>
          <a:p>
            <a:r>
              <a:t>   precise enough that two people would agree on pass or fail WITHOUT</a:t>
            </a:r>
          </a:p>
          <a:p>
            <a:r>
              <a:t>   talking to each other.</a:t>
            </a:r>
          </a:p>
          <a:p/>
          <a:p>
            <a:r>
              <a:t>RUNNING LATE? A table still arguing at 0:24 is doing the right thing in</a:t>
            </a:r>
          </a:p>
          <a:p>
            <a:r>
              <a:t>the wrong slot: "Lock what you have. You can amend a ticket; you cannot</a:t>
            </a:r>
          </a:p>
          <a:p>
            <a:r>
              <a:t>un-ship a build."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BEFORE THIS IS SET-UP. EVERYTHING AFTER IS EXECUTION.</a:t>
            </a:r>
          </a:p>
          <a:p/>
          <a:p>
            <a:r>
              <a:t>ON THE PROJECTOR, ~3 MIN: paste the decision-interview prompt. The agent</a:t>
            </a:r>
          </a:p>
          <a:p>
            <a:r>
              <a:t>lists ten decisions with options and trade-offs AND STOPS.</a:t>
            </a:r>
          </a:p>
          <a:p/>
          <a:p>
            <a:r>
              <a:t>   "Ten decisions. It gave me options and trade-offs and then it waited.</a:t>
            </a:r>
          </a:p>
          <a:p>
            <a:r>
              <a:t>    It did not pick. If yours picks for you -- that is a finding, write it</a:t>
            </a:r>
          </a:p>
          <a:p>
            <a:r>
              <a:t>    down, it is the most interesting thing you will see today."</a:t>
            </a:r>
          </a:p>
          <a:p/>
          <a:p>
            <a:r>
              <a:t>THEN CLOSE YOUR LAPTOP LID. Do it visibly. It is the clearest possible</a:t>
            </a:r>
          </a:p>
          <a:p>
            <a:r>
              <a:t>signal that your answers are not coming. You will be asked anyway.</a:t>
            </a:r>
          </a:p>
          <a:p/>
          <a:p>
            <a:r>
              <a:t>FOR THE TABLE THAT SAYS "YOU DECIDE" -- this reframing works every time:</a:t>
            </a:r>
          </a:p>
          <a:p/>
          <a:p>
            <a:r>
              <a:t>   "Then tell me what you'd REGRET. If you set the threshold too low it</a:t>
            </a:r>
          </a:p>
          <a:p>
            <a:r>
              <a:t>    answers questions it shouldn't. Too high and it refuses things it</a:t>
            </a:r>
          </a:p>
          <a:p>
            <a:r>
              <a:t>    knows. Which of those two would you rather explain to the bank?"</a:t>
            </a:r>
          </a:p>
          <a:p/>
          <a:p>
            <a:r>
              <a:t>They are not choosing a number. They are choosing which failure they can</a:t>
            </a:r>
          </a:p>
          <a:p>
            <a:r>
              <a:t>live with -- and that, they can do.</a:t>
            </a:r>
          </a:p>
          <a:p/>
          <a:p>
            <a:r>
              <a:t>THE GATE. Walk to each table, ~90 seconds, and SAY the time limit out loud</a:t>
            </a:r>
          </a:p>
          <a:p>
            <a:r>
              <a:t>so they feel it. Mentor holds the clock at the front.</a:t>
            </a:r>
          </a:p>
          <a:p/>
          <a:p>
            <a:r>
              <a:t>   1. "Why this chunk size?"   -&gt; a reason about THEIR corpus, not a default</a:t>
            </a:r>
          </a:p>
          <a:p>
            <a:r>
              <a:t>   2. "Why this threshold?"    -&gt; that they know what it costs them</a:t>
            </a:r>
          </a:p>
          <a:p>
            <a:r>
              <a:t>   3. "What are you NOT doing?" -&gt; an actual answer. "Nothing" is a failed plan</a:t>
            </a:r>
          </a:p>
          <a:p/>
          <a:p>
            <a:r>
              <a:t>REJECT ONE IF ONE DESERVES IT. A room where all five pass at first ask</a:t>
            </a:r>
          </a:p>
          <a:p>
            <a:r>
              <a:t>learns that the gate is theatre. "Come back in three minutes with a reason</a:t>
            </a:r>
          </a:p>
          <a:p>
            <a:r>
              <a:t>for D2" costs three minutes and teaches the entire session.</a:t>
            </a:r>
          </a:p>
          <a:p/>
          <a:p>
            <a:r>
              <a:t>MENTOR: at 0:43, CALL IT, wherever Manraj is. Stage 03 cannot be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LONG ONE. Your job changes completely: you stop presenting.</a:t>
            </a:r>
          </a:p>
          <a:p/>
          <a:p>
            <a:r>
              <a:t>START YOUR BUILD, LET ONE TEST GO GREEN ON SCREEN, then:</a:t>
            </a:r>
          </a:p>
          <a:p/>
          <a:p>
            <a:r>
              <a:t>   "Red, then green, then commit. I'm going to leave my screen up but I'm</a:t>
            </a:r>
          </a:p>
          <a:p>
            <a:r>
              <a:t>    not going to talk about it. Come and look if you want to see where</a:t>
            </a:r>
          </a:p>
          <a:p>
            <a:r>
              <a:t>    I am."</a:t>
            </a:r>
          </a:p>
          <a:p/>
          <a:p>
            <a:r>
              <a:t>LEAVE YOUR TERMINAL PROJECTED ALL HOUR. A table that is lost finds it far</a:t>
            </a:r>
          </a:p>
          <a:p>
            <a:r>
              <a:t>easier to glance at a screen than to raise a hand.</a:t>
            </a:r>
          </a:p>
          <a:p/>
          <a:p>
            <a:r>
              <a:t>THE 1:15 MID-POINT CALL -- say this close to verbatim, then SHUT UP FOR A</a:t>
            </a:r>
          </a:p>
          <a:p>
            <a:r>
              <a:t>FULL TEN SECONDS and let them actually decide:</a:t>
            </a:r>
          </a:p>
          <a:p/>
          <a:p>
            <a:r>
              <a:t>   "Half the build is gone. Decide now, as a table, where you're stopping.</a:t>
            </a:r>
          </a:p>
          <a:p>
            <a:r>
              <a:t>    F6, F7 and F8 are cuttable and I mean that -- a table that ships F1 to</a:t>
            </a:r>
          </a:p>
          <a:p>
            <a:r>
              <a:t>    F5 clean and tells me what they cut has the better run today. The one</a:t>
            </a:r>
          </a:p>
          <a:p>
            <a:r>
              <a:t>    thing I will not accept is a product built by skipping the review.</a:t>
            </a:r>
          </a:p>
          <a:p>
            <a:r>
              <a:t>    CUT SCOPE, NEVER A STAGE. Say your number out loud to each other now."</a:t>
            </a:r>
          </a:p>
          <a:p/>
          <a:p>
            <a:r>
              <a:t>ROAMER -- the four failures, in the order they appear:</a:t>
            </a:r>
          </a:p>
          <a:p/>
          <a:p>
            <a:r>
              <a:t>  * Agent added a dependency without asking -&gt; "Did you approve that?"</a:t>
            </a:r>
          </a:p>
          <a:p>
            <a:r>
              <a:t>    It is an explicit stage-03 rule.</a:t>
            </a:r>
          </a:p>
          <a:p>
            <a:r>
              <a:t>  * Tests weakened to go green -&gt; STOP THEM. This is the one that cannot</a:t>
            </a:r>
          </a:p>
          <a:p>
            <a:r>
              <a:t>    pass. Everything else is recoverable; this isn't.</a:t>
            </a:r>
          </a:p>
          <a:p>
            <a:r>
              <a:t>  * Nobody has run the app 45 minutes in -&gt; "Open localhost:3000. Now."</a:t>
            </a:r>
          </a:p>
          <a:p>
            <a:r>
              <a:t>  * Watching the agent type, nobody reading -&gt; "What's it building right</a:t>
            </a:r>
          </a:p>
          <a:p>
            <a:r>
              <a:t>    now?" No answer means that table is a passenger.</a:t>
            </a:r>
          </a:p>
          <a:p/>
          <a:p>
            <a:r>
              <a:t>IF A CODESPACE DIES -- roamer handles it, Manraj does not leave the front:</a:t>
            </a:r>
          </a:p>
          <a:p>
            <a:r>
              <a:t>  1. ./scripts/start.sh    -- fixes most things</a:t>
            </a:r>
          </a:p>
          <a:p>
            <a:r>
              <a:t>  2. 502 on *.app.github.dev -&gt; USE THE EDITOR PREVIEW. That is the fix,</a:t>
            </a:r>
          </a:p>
          <a:p>
            <a:r>
              <a:t>     not a workaround. curl says 200 the whole time, so it reads as a</a:t>
            </a:r>
          </a:p>
          <a:p>
            <a:r>
              <a:t>     broken build and is not.</a:t>
            </a:r>
          </a:p>
          <a:p>
            <a:r>
              <a:t>  3. Still dead -&gt; new Codespace from table-N, ~3 min. Work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BEST THREE MINUTES OF THE DAY. Do not rush it, and do not</a:t>
            </a:r>
          </a:p>
          <a:p>
            <a:r>
              <a:t>pre-empt the answer -- let the agent find it live on the screen.</a:t>
            </a:r>
          </a:p>
          <a:p/>
          <a:p>
            <a:r>
              <a:t>Run review pass 1 (CORRECTNESS ONLY) on docs/review-example/expense_rules.py</a:t>
            </a:r>
          </a:p>
          <a:p>
            <a:r>
              <a:t>against the travel policy section 4.2. It finds `if claim.amount_gbp &gt; 75:`</a:t>
            </a:r>
          </a:p>
          <a:p>
            <a:r>
              <a:t>where the policy says "£75 or more".</a:t>
            </a:r>
          </a:p>
          <a:p/>
          <a:p>
            <a:r>
              <a:t>   "One character. Every claim at exactly seventy-five pounds goes through</a:t>
            </a:r>
          </a:p>
          <a:p>
            <a:r>
              <a:t>    without approval, and no test fails, and the code reads fine. This is</a:t>
            </a:r>
          </a:p>
          <a:p>
            <a:r>
              <a:t>    what five passes are for. One pass finds the crash. The fifth finds</a:t>
            </a:r>
          </a:p>
          <a:p>
            <a:r>
              <a:t>    this."</a:t>
            </a:r>
          </a:p>
          <a:p/>
          <a:p>
            <a:r>
              <a:t>Answers and grading are in docs/instructor/review-example-answers.md if a</a:t>
            </a:r>
          </a:p>
          <a:p>
            <a:r>
              <a:t>table wants to go deeper.</a:t>
            </a:r>
          </a:p>
          <a:p/>
          <a:p>
            <a:r>
              <a:t>THEN SET THEM OFF ON THEIR OWN DIFF:</a:t>
            </a:r>
          </a:p>
          <a:p/>
          <a:p>
            <a:r>
              <a:t>   "Same five passes on your own code. ONE PASS PER MESSAGE -- if you ask</a:t>
            </a:r>
          </a:p>
          <a:p>
            <a:r>
              <a:t>    for all five at once you get five shallow ones. Every finding gets a</a:t>
            </a:r>
          </a:p>
          <a:p>
            <a:r>
              <a:t>    decision written down, INCLUDING the ones you're not fixing. 'We know</a:t>
            </a:r>
          </a:p>
          <a:p>
            <a:r>
              <a:t>    and we accepted it' is a professional answer. 'We didn't look' is not."</a:t>
            </a:r>
          </a:p>
          <a:p/>
          <a:p>
            <a:r>
              <a:t>ROAMER: teams finding nothing in their own code are not reviewing -- they</a:t>
            </a:r>
          </a:p>
          <a:p>
            <a:r>
              <a:t>are asking the agent whether its own work is good. Ask: "Which pass are you</a:t>
            </a:r>
          </a:p>
          <a:p>
            <a:r>
              <a:t>on, and what did it say?"</a:t>
            </a:r>
          </a:p>
          <a:p/>
          <a:p>
            <a:r>
              <a:t>THE HONEST RISK HERE: tables arrive at 1:45 mid-feature and want to keep</a:t>
            </a:r>
          </a:p>
          <a:p>
            <a:r>
              <a:t>building. HOLD THE LINE. This stage is learning outcome M04.4 and it is</a:t>
            </a:r>
          </a:p>
          <a:p>
            <a:r>
              <a:t>what the certificate is actually about. A table that skips it has not done</a:t>
            </a:r>
          </a:p>
          <a:p>
            <a:r>
              <a:t>the module, however good their product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PROJECTOR, ~2 MIN -- write the release plan, then push and open the</a:t>
            </a:r>
          </a:p>
          <a:p>
            <a:r>
              <a:t>PR on screen:</a:t>
            </a:r>
          </a:p>
          <a:p/>
          <a:p>
            <a:r>
              <a:t>   gh pr create --base table-3 --head work/table-3 \</a:t>
            </a:r>
          </a:p>
          <a:p>
            <a:r>
              <a:t>     --title "T1: the policy assistant" --fill</a:t>
            </a:r>
          </a:p>
          <a:p/>
          <a:p>
            <a:r>
              <a:t>   "Four checks run. NOTHING DEPLOYS. Three hours in and none of this has</a:t>
            </a:r>
          </a:p>
          <a:p>
            <a:r>
              <a:t>    been near a URL. The merge is the deploy, and the merge needs a human."</a:t>
            </a:r>
          </a:p>
          <a:p/>
          <a:p>
            <a:r>
              <a:t>THIS IS WHERE THE DEPLOYMENT LESSON LANDS, so don't skate over it. No table</a:t>
            </a:r>
          </a:p>
          <a:p>
            <a:r>
              <a:t>ever runs a deploy command. Railway watches refs/heads/table-N; merging the</a:t>
            </a:r>
          </a:p>
          <a:p>
            <a:r>
              <a:t>PR is what puts software in front of users. The point: RELEASE IS A</a:t>
            </a:r>
          </a:p>
          <a:p>
            <a:r>
              <a:t>GOVERNANCE ACT, NOT A COMMAND. A table that could type `railway up` would</a:t>
            </a:r>
          </a:p>
          <a:p>
            <a:r>
              <a:t>never feel that.</a:t>
            </a:r>
          </a:p>
          <a:p/>
          <a:p>
            <a:r>
              <a:t>ON THE ROLLBACK -- the line that lands:</a:t>
            </a:r>
          </a:p>
          <a:p/>
          <a:p>
            <a:r>
              <a:t>   "Write the rollback BEFORE you merge. Not because you'll need it.</a:t>
            </a:r>
          </a:p>
          <a:p>
            <a:r>
              <a:t>    Because writing it afterwards is called an incident report."</a:t>
            </a:r>
          </a:p>
          <a:p/>
          <a:p>
            <a:r>
              <a:t>BRANCH PROTECTION WILL BITE ONE TABLE. They cannot approve their own pull</a:t>
            </a:r>
          </a:p>
          <a:p>
            <a:r>
              <a:t>request. Say so as a control, not an apology:</a:t>
            </a:r>
          </a:p>
          <a:p/>
          <a:p>
            <a:r>
              <a:t>   "A different person approves. That's not GitHub being awkward, that's</a:t>
            </a:r>
          </a:p>
          <a:p>
            <a:r>
              <a:t>    the control. Find someone at another table."</a:t>
            </a:r>
          </a:p>
          <a:p/>
          <a:p>
            <a:r>
              <a:t>That cross-table approval is also the best thirty seconds of peer learning</a:t>
            </a:r>
          </a:p>
          <a:p>
            <a:r>
              <a:t>in the session -- someone from table 2 reading table 4's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 PER TABLE. ASK ALL SIX EVEN WHEN YOU CAN SEE THE ANSWER -- the</a:t>
            </a:r>
          </a:p>
          <a:p>
            <a:r>
              <a:t>room is watching the ritual, not the result.</a:t>
            </a:r>
          </a:p>
          <a:p/>
          <a:p>
            <a:r>
              <a:t>All six answered -&gt; approve -&gt; merge -&gt; about 90 seconds -&gt; live.</a:t>
            </a:r>
          </a:p>
          <a:p/>
          <a:p>
            <a:r>
              <a:t>*** THEN WAIT TWO MINUTES BEFORE READING /healthz ***</a:t>
            </a:r>
          </a:p>
          <a:p/>
          <a:p>
            <a:r>
              <a:t>A freshly deployed container indexes the corpus in a background thread so</a:t>
            </a:r>
          </a:p>
          <a:p>
            <a:r>
              <a:t>the health endpoint can answer while it works. For the first minute or two</a:t>
            </a:r>
          </a:p>
          <a:p>
            <a:r>
              <a:t>the vector store says "collection not created yet", then flips to</a:t>
            </a:r>
          </a:p>
          <a:p>
            <a:r>
              <a:t>"135 passages indexed". IT IS A COLD START, NOT A FAILED BUILD. Refresh</a:t>
            </a:r>
          </a:p>
          <a:p>
            <a:r>
              <a:t>before you send anyone back to their agent. (Seen for real on table-3.)</a:t>
            </a:r>
          </a:p>
          <a:p/>
          <a:p>
            <a:r>
              <a:t>Question 6 exists because of the one-PR scope. Cutting F7 is completely</a:t>
            </a:r>
          </a:p>
          <a:p>
            <a:r>
              <a:t>legitimate. A top bar still advertising "Corpus" after they cut it is the</a:t>
            </a:r>
          </a:p>
          <a:p>
            <a:r>
              <a:t>product claiming something that isn't there -- and this is the last moment</a:t>
            </a:r>
          </a:p>
          <a:p>
            <a:r>
              <a:t>to catch it.</a:t>
            </a:r>
          </a:p>
          <a:p/>
          <a:p>
            <a:r>
              <a:t>WHEN A TABLE SHOWS YOU A REFUSAL, say this:</a:t>
            </a:r>
          </a:p>
          <a:p/>
          <a:p>
            <a:r>
              <a:t>   "Watch what it just did. It had a model that would happily have answered</a:t>
            </a:r>
          </a:p>
          <a:p>
            <a:r>
              <a:t>    that, and it refused BEFORE it even called it. That's not the product</a:t>
            </a:r>
          </a:p>
          <a:p>
            <a:r>
              <a:t>    failing. That's the only reason a bank would let it near a staff</a:t>
            </a:r>
          </a:p>
          <a:p>
            <a:r>
              <a:t>    member."</a:t>
            </a:r>
          </a:p>
          <a:p/>
          <a:p>
            <a:r>
              <a:t>AND SAY THIS OUT LOUD, IN FRONT OF EVERYONE -- name the table:</a:t>
            </a:r>
          </a:p>
          <a:p/>
          <a:p>
            <a:r>
              <a:t>   "Table 4 cut two features and shipped something that works, with a</a:t>
            </a:r>
          </a:p>
          <a:p>
            <a:r>
              <a:t>    review record and a rollback. THAT is the better run today. If you</a:t>
            </a:r>
          </a:p>
          <a:p>
            <a:r>
              <a:t>    remember one thing from this module, make it that one."</a:t>
            </a:r>
          </a:p>
          <a:p/>
          <a:p>
            <a:r>
              <a:t>If you don't say it, the next cohort hears that eight features was the bar.</a:t>
            </a:r>
          </a:p>
          <a:p/>
          <a:p>
            <a:r>
              <a:t>CLOSING QUESTION, TO EVERY TABLE:</a:t>
            </a:r>
          </a:p>
          <a:p>
            <a:r>
              <a:t>   "Where did AI help, where did it displace or risk something, and which</a:t>
            </a:r>
          </a:p>
          <a:p>
            <a:r>
              <a:t>    control caught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MATTERS. Work down it, and do not jump.</a:t>
            </a:r>
          </a:p>
          <a:p/>
          <a:p>
            <a:r>
              <a:t>NOTHING IN THIS LIST TOUCHES THE REVIEW OR THE TWO GATES. Those are the</a:t>
            </a:r>
          </a:p>
          <a:p>
            <a:r>
              <a:t>module. Features are not.</a:t>
            </a:r>
          </a:p>
          <a:p/>
          <a:p>
            <a:r>
              <a:t>IF YOU ARE SO FAR BEHIND THAT THE GATES ARE IN QUESTION: run stage 06 for</a:t>
            </a:r>
          </a:p>
          <a:p>
            <a:r>
              <a:t>TWO tables in front of the whole room and let the other three watch.</a:t>
            </a:r>
          </a:p>
          <a:p/>
          <a:p>
            <a:r>
              <a:t>   Three tables seeing a real gate beats five tables having a rushed one.</a:t>
            </a:r>
          </a:p>
          <a:p/>
          <a:p>
            <a:r>
              <a:t>That is a genuinely acceptable outcome and you should feel fine about it.</a:t>
            </a:r>
          </a:p>
          <a:p>
            <a:r>
              <a:t>The failure mode you are avoiding is five tables each getting ninety</a:t>
            </a:r>
          </a:p>
          <a:p>
            <a:r>
              <a:t>seconds of a gate that nobody believed in.</a:t>
            </a:r>
          </a:p>
          <a:p/>
          <a:p>
            <a:r>
              <a:t>WHAT YOU DO NOT DO, UNDER ANY TIME PRESSURE:</a:t>
            </a:r>
          </a:p>
          <a:p>
            <a:r>
              <a:t>  * Fix a table's scope-check failure for them. Send them back to revert.</a:t>
            </a:r>
          </a:p>
          <a:p>
            <a:r>
              <a:t>    The failure IS the lesson.</a:t>
            </a:r>
          </a:p>
          <a:p>
            <a:r>
              <a:t>  * Give a table your D0-D9 to save them five minutes in stage 02.</a:t>
            </a:r>
          </a:p>
          <a:p>
            <a:r>
              <a:t>  * Let a table skip the review to finish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IN THE TEN MINUTES AFTER THE ROOM EMPTIES, not that evening.</a:t>
            </a:r>
          </a:p>
          <a:p/>
          <a:p>
            <a:r>
              <a:t>THE FIRST LINE IS THE IMPORTANT ONE. Which feature each table actually</a:t>
            </a:r>
          </a:p>
          <a:p>
            <a:r>
              <a:t>reached is the only honest basis for the next cohort's timings and for the</a:t>
            </a:r>
          </a:p>
          <a:p>
            <a:r>
              <a:t>1:15 mid-point prompt. If every table stopped at F5, then F5 is the real</a:t>
            </a:r>
          </a:p>
          <a:p>
            <a:r>
              <a:t>target and the deck should say so next time.</a:t>
            </a:r>
          </a:p>
          <a:p/>
          <a:p>
            <a:r>
              <a:t>THE SECOND IS THE MOST VALUABLE FINDING YOU CAN BRING BACK. If an agent</a:t>
            </a:r>
          </a:p>
          <a:p>
            <a:r>
              <a:t>skipped the decision interview and picked the ten decisions itself, capture</a:t>
            </a:r>
          </a:p>
          <a:p>
            <a:r>
              <a:t>the exact wording -- that is a scaffold defect, and it is fixable in the</a:t>
            </a:r>
          </a:p>
          <a:p>
            <a:r>
              <a:t>stage file before the next run.</a:t>
            </a:r>
          </a:p>
          <a:p/>
          <a:p>
            <a:r>
              <a:t>RESETTING: ./scripts/reset_table.sh N takes about twenty seconds per table</a:t>
            </a:r>
          </a:p>
          <a:p>
            <a:r>
              <a:t>and puts the branch back to main. Do all five. A table branch left carrying</a:t>
            </a:r>
          </a:p>
          <a:p>
            <a:r>
              <a:t>the previous cohort's build is the single most confusing thing a new table</a:t>
            </a:r>
          </a:p>
          <a:p>
            <a:r>
              <a:t>can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5B6168"/>
                </a:solidFill>
                <a:latin typeface="Segoe UI"/>
              </a:rPr>
              <a:t>NUS AIDF × MUFG · AI PRACTITIONER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5200" b="1">
                <a:solidFill>
                  <a:srgbClr val="1A1C1E"/>
                </a:solidFill>
                <a:latin typeface="Segoe UI"/>
              </a:rPr>
              <a:t>M04 — The AI-Native
Development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343400"/>
            <a:ext cx="1828800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70916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1A1C1E"/>
                </a:solidFill>
                <a:latin typeface="Segoe UI"/>
              </a:rPr>
              <a:t>Delivery plan — facilitator, roamer, mentor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5B6168"/>
                </a:solidFill>
                <a:latin typeface="Segoe UI"/>
              </a:rPr>
              <a:t>5 tables · 150 minutes · two human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WHO DOES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The three of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Manraj — front of room, projector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Builds the product side by side with the tables. Owns the clock. Is the release manager at both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086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Roamer — moving, constantly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9956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Never sits. Reads screens over shoulders. Catches the table that is stuck and has not said 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8825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Mentor — floating, senior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695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Takes the question the roamer cannot answer in thirty seconds. Holds the front when Manraj is at a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B45409"/>
                </a:solidFill>
                <a:latin typeface="Segoe UI"/>
              </a:rPr>
              <a:t>THE ONE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Demonstrate the move.
Never project the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578608"/>
            <a:ext cx="50800" cy="8046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651760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The moment your ten decisions are on the screen, five tables copy them — and the module is 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8444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Defending a decision you did not make is the thing M04 assesses.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7314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Your D0–D9 stay on your laptop. Off the projector. Out of your mouth.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0:00   ·   OPEN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/about on the projector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Where we are  ·  2 min   — M01 model, M02 tooling, M03 you shipped. Today it survives a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What we're building  ·  2 min   — scroll the eight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The six stages  ·  3 min   — stop on both gates. “I am that human.”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What done means  ·  2 min   — read PRD §12 off the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222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Go  ·  1 min   — START-HERE.md, then pipeline/01-shape.md.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0:10   ·   STAGE 01 · SHAPE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They write the criteria.
Not the agent.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Project ~3 min: the agent's five-line summary, then it asks to be corrected.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Then stop sharing. They have twelve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1680"/>
            <a:ext cx="50800" cy="5303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354832"/>
            <a:ext cx="1036289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“At 2:15 I'll ask you to read these to me. You cannot read back something you never wrote.”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B45409"/>
                </a:solidFill>
                <a:latin typeface="Segoe UI"/>
              </a:rPr>
              <a:t>0:25   ·   STAGE 02 · PLAN · 20 MIN  ·  ⚠ THE FIRST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The most important twenty
minutes of the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Project ~3 min: ten decisions, options, trade-offs — and it stops.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Then close your laptop lid. Physically. Visibly.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Walk the tables. ~90 seconds each. Three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Reject one, if one deserves it. All five passing first time teaches that the gate is theatre.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0:45   ·   STAGE 03 · BUILD · 60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You stop presenting.
You start walking.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0:55   Roamer confirms all five tables have F1 running. No ingestion = will not finish F5.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1:15   The mid-point call. Front of room, loud, thirty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1:30   Quiet walk. Note which feature each table is on — this is your 2:15 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1:40   “Five minutes. Commit what works. Broken code does not go into a review.”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1:45   ·   STAGE 04 · REVIEW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One character.
No failing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Run pass 1 on the planted defect live. It finds  &gt; 75  where the policy says “£75 or more”.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Every claim at exactly £75 goes through without approval. The code reads fine.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1680"/>
            <a:ext cx="50800" cy="5303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354832"/>
            <a:ext cx="1036289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“One pass finds the crash. The fifth finds this.”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B45409"/>
                </a:solidFill>
                <a:latin typeface="Segoe UI"/>
              </a:rPr>
              <a:t>2:05   ·   STAGE 05 · RELEASE · 10 MIN  ·  ⚠ THE SECOND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Three hours in, and none
of it has been near a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One PR carrying the whole product. Four checks run. Nothing deploys.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92984"/>
            <a:ext cx="50800" cy="5303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66136"/>
            <a:ext cx="1036289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“The merge is the deploy, and the merge needs a human.”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450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Write the rollback before you merge. Writing it afterwards is called an incident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132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They cannot approve their own PR. That is the control, not GitHub being awkward.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B45409"/>
                </a:solidFill>
                <a:latin typeface="Segoe UI"/>
              </a:rPr>
              <a:t>2:15   ·   STAGE 06 · VERIFY · 15 MIN  ·  YOU ARE THE RELEASE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Six questions, table by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1  Show me your ticket.     2  Read me your criteria — in your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3  Show me the test that was red and is now green.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4  Which review finding did you accept,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5  How do we get this back if it is wrong?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222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6  What did you cut, and does the interface still offer 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IF YOU ARE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Cut in this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1   Your own projector build after stage 03   — costs nothing; they have the pattern by then.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2   Gate 1 to three tables, mentor takes two   — costs consistency, not substance.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3   Stage 06 down to one question: “which finding did you accept?”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4   F6–F8 room-wide at 1:15   — the demo looks thinner. Nothing else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222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Nothing above touches the review or the two gates.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AFTERWARDS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612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A1C1E"/>
                </a:solidFill>
                <a:latin typeface="Segoe UI"/>
              </a:rPr>
              <a:t>Record while it is fresh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463040" cy="444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Which feature each table reached   — this sets the real F-target for cohort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61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Did any agent decide D0–D9 without being asked to? Verbatim.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483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Did any table try to skip the review to finish a feature?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35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B6168"/>
                </a:solidFill>
                <a:latin typeface="Segoe UI"/>
              </a:rPr>
              <a:t>The best answer to the closing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222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A1C1E"/>
                </a:solidFill>
                <a:latin typeface="Segoe UI"/>
              </a:rPr>
              <a:t>Then: ./scripts/reset_table.sh N   for all five.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