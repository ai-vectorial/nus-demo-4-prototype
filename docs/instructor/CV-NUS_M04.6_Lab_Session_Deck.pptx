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5" roundtripDataSignature="AMtx7miD48tYbFwmWUPW/gkxtZCEQYkD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3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SESSION IN ONE LINE: five tables each take the same bounded application</a:t>
            </a:r>
          </a:p>
          <a:p>
            <a:r>
              <a:t>from a feature shape to a deployed slice, through six stages and two human</a:t>
            </a:r>
          </a:p>
          <a:p>
            <a:r>
              <a:t>gates, and are judged on the evidence rather than on whether it runs.</a:t>
            </a:r>
          </a:p>
          <a:p/>
          <a:p>
            <a:r>
              <a:t>OPEN ON THE REFERENCE /about PAGE, not on this slide -- it carries the</a:t>
            </a:r>
          </a:p>
          <a:p>
            <a:r>
              <a:t>programme recap so nothing has to be recited.</a:t>
            </a:r>
          </a:p>
          <a:p/>
          <a:p>
            <a:r>
              <a:t>RECAP M03 ONLY. One line each for M01 and M02, then move. The room was</a:t>
            </a:r>
          </a:p>
          <a:p>
            <a:r>
              <a:t>there; what they need is the handoff into today.</a:t>
            </a:r>
          </a:p>
          <a:p/>
          <a:p>
            <a:r>
              <a:t>THE LINE THAT SETS UP THE WHOLE SESSION:</a:t>
            </a:r>
          </a:p>
          <a:p>
            <a:r>
              <a:t>   "Your agent is going to be faster than you all morning. Twice, it is</a:t>
            </a:r>
          </a:p>
          <a:p>
            <a:r>
              <a:t>    going to be faster than you in the WRONG DIRECTION. Those two moments</a:t>
            </a:r>
          </a:p>
          <a:p>
            <a:r>
              <a:t>    are the session."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THIRTY SECONDS. The room does not need the structure explained, only that</a:t>
            </a:r>
          </a:p>
          <a:p>
            <a:r>
              <a:t>there are four parts and that Part 3 is the long one.</a:t>
            </a:r>
          </a:p>
          <a:p/>
          <a:p>
            <a:r>
              <a:t>THE CLOCK, if anyone asks:</a:t>
            </a:r>
          </a:p>
          <a:p>
            <a:r>
              <a:t>   Part 1   0:00-0:10</a:t>
            </a:r>
          </a:p>
          <a:p>
            <a:r>
              <a:t>   Part 2   0:10-0:45    gate 1 lands inside this</a:t>
            </a:r>
          </a:p>
          <a:p>
            <a:r>
              <a:t>   Part 3   0:45-1:45</a:t>
            </a:r>
          </a:p>
          <a:p>
            <a:r>
              <a:t>   Part 4   1:45-2:30    gate 2 lands at the end</a:t>
            </a:r>
          </a:p>
          <a:p/>
          <a:p>
            <a:r>
              <a:t>WHAT THEY ARE BUILDING: a policy assistant for Aldermere Bank (fictional).</a:t>
            </a:r>
          </a:p>
          <a:p>
            <a:r>
              <a:t>A staff member asks a policy question in plain language; it answers ONLY</a:t>
            </a:r>
          </a:p>
          <a:p>
            <a:r>
              <a:t>from the bank's policy corpus, shows which sections it used, and when the</a:t>
            </a:r>
          </a:p>
          <a:p>
            <a:r>
              <a:t>corpus cannot support an answer IT SAYS SO AND STOPS.</a:t>
            </a:r>
          </a:p>
          <a:p/>
          <a:p>
            <a:r>
              <a:t>That refusal is the product, not a limitation of it. Say so early.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*** THE MOST IMPORTANT SLIDE IN THE DECK. ***</a:t>
            </a:r>
          </a:p>
          <a:p/>
          <a:p>
            <a:r>
              <a:t>This is the M03 pattern the room already knows. M04 adds one constraint</a:t>
            </a:r>
          </a:p>
          <a:p>
            <a:r>
              <a:t>M03 did not have:</a:t>
            </a:r>
          </a:p>
          <a:p/>
          <a:p>
            <a:r>
              <a:t>   DEMONSTRATE THE MOVE. NEVER SHOW THE ANSWER.</a:t>
            </a:r>
          </a:p>
          <a:p/>
          <a:p>
            <a:r>
              <a:t>PRD section 10 leaves ten decisions deliberately open -- embedding model,</a:t>
            </a:r>
          </a:p>
          <a:p>
            <a:r>
              <a:t>chunk size, threshold, how many passages, what to do with superseded</a:t>
            </a:r>
          </a:p>
          <a:p>
            <a:r>
              <a:t>policy, what happens when two policies contradict each other. Those ten</a:t>
            </a:r>
          </a:p>
          <a:p>
            <a:r>
              <a:t>decisions ARE the assessment. At the last gate the question is "why this</a:t>
            </a:r>
          </a:p>
          <a:p>
            <a:r>
              <a:t>threshold?", and "the agent chose it" is a failed answer. So is "we were</a:t>
            </a:r>
          </a:p>
          <a:p>
            <a:r>
              <a:t>told 0.35".</a:t>
            </a:r>
          </a:p>
          <a:p/>
          <a:p>
            <a:r>
              <a:t>The moment those values are on the screen, five tables copy them and the</a:t>
            </a:r>
          </a:p>
          <a:p>
            <a:r>
              <a:t>session is over.</a:t>
            </a:r>
          </a:p>
          <a:p/>
          <a:p>
            <a:r>
              <a:t>THE THIRD BEAT IS THE ONE THAT GETS SKIPPED. After the tables have worked,</a:t>
            </a:r>
          </a:p>
          <a:p>
            <a:r>
              <a:t>show the artefact from the front AND SAY IT SHOULD NOT MATCH THEIRS:</a:t>
            </a:r>
          </a:p>
          <a:p>
            <a:r>
              <a:t>"mine looks like this. Yours won't, and that's correct." A room that</a:t>
            </a:r>
          </a:p>
          <a:p>
            <a:r>
              <a:t>thinks there is a right answer stops deciding and starts guessing.</a:t>
            </a:r>
          </a:p>
          <a:p/>
          <a:p>
            <a:r>
              <a:t>WHEN THEY ASK ANYWAY -- and they will, about twenty minutes in:</a:t>
            </a:r>
          </a:p>
          <a:p>
            <a:r>
              <a:t>   "I'm not going to tell you, and at the last gate you'll be glad."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MINUTES, AND IT IS ALL SET-UP. The temptation is to let it run long</a:t>
            </a:r>
          </a:p>
          <a:p>
            <a:r>
              <a:t>because nobody is stuck yet. Do not -- every minute here comes out of the</a:t>
            </a:r>
          </a:p>
          <a:p>
            <a:r>
              <a:t>build.</a:t>
            </a:r>
          </a:p>
          <a:p/>
          <a:p>
            <a:r>
              <a:t>Have every table open their Codespace during this part, not after it. A</a:t>
            </a:r>
          </a:p>
          <a:p>
            <a:r>
              <a:t>Codespace that starts building at 0:10 is four dead minutes at the worst</a:t>
            </a:r>
          </a:p>
          <a:p>
            <a:r>
              <a:t>possible moment.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REFUSAL PATH IS THE TEACHING POINT and it comes back at the last gate.</a:t>
            </a:r>
          </a:p>
          <a:p/>
          <a:p>
            <a:r>
              <a:t>When the best passage scores below the threshold the table chose, the</a:t>
            </a:r>
          </a:p>
          <a:p>
            <a:r>
              <a:t>product refuses WITHOUT CALLING THE MODEL AT ALL. That is why a refusal is</a:t>
            </a:r>
          </a:p>
          <a:p>
            <a:r>
              <a:t>visibly faster than an answer -- under 1.5 seconds against about 5. It is</a:t>
            </a:r>
          </a:p>
          <a:p>
            <a:r>
              <a:t>also why the threshold is a real decision with a real cost: too low and it</a:t>
            </a:r>
          </a:p>
          <a:p>
            <a:r>
              <a:t>answers things it shouldn't, too high and it refuses valid rephrasings.</a:t>
            </a:r>
          </a:p>
          <a:p/>
          <a:p>
            <a:r>
              <a:t>THREE THINGS PLANTED IN THE CORPUS, all of which surface later:</a:t>
            </a:r>
          </a:p>
          <a:p>
            <a:r>
              <a:t>  * a superseded policy, still indexed, so "has this changed?" is answerable</a:t>
            </a:r>
          </a:p>
          <a:p>
            <a:r>
              <a:t>  * two policies that genuinely contradict each other on retention vs</a:t>
            </a:r>
          </a:p>
          <a:p>
            <a:r>
              <a:t>    outsourcing -- a governance problem the bank already has, and one the</a:t>
            </a:r>
          </a:p>
          <a:p>
            <a:r>
              <a:t>    software must not resolve on its own</a:t>
            </a:r>
          </a:p>
          <a:p>
            <a:r>
              <a:t>  * thresholds written as "GBP 75 or more", which is inclusive, and which</a:t>
            </a:r>
          </a:p>
          <a:p>
            <a:r>
              <a:t>    code gets wrong</a:t>
            </a:r>
          </a:p>
          <a:p/>
          <a:p>
            <a:r>
              <a:t>ALDERMERE BANK IS FICTIONAL. Say it once, plainly.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*** THE SLIDE THAT SAVES THE AFTERNOON. Spend a full two minutes here. ***</a:t>
            </a:r>
          </a:p>
          <a:p/>
          <a:p>
            <a:r>
              <a:t>GET EVERY TABLE TO OPEN THEIR CODESPACE NOW and run ./scripts/start.sh</a:t>
            </a:r>
          </a:p>
          <a:p>
            <a:r>
              <a:t>while this slide is up. Do not move on until all five report a preview.</a:t>
            </a:r>
          </a:p>
          <a:p/>
          <a:p>
            <a:r>
              <a:t>THE ONE FAILURE THAT WILL HAPPEN, and the answer to it:</a:t>
            </a:r>
          </a:p>
          <a:p>
            <a:r>
              <a:t>   The in-editor preview works. The forwarded *.app.github.dev URL can</a:t>
            </a:r>
          </a:p>
          <a:p>
            <a:r>
              <a:t>   return 502, because the port has to be Public for an outside browser.</a:t>
            </a:r>
          </a:p>
          <a:p>
            <a:r>
              <a:t>   curl from the terminal says 200 the whole time, which makes it read as</a:t>
            </a:r>
          </a:p>
          <a:p>
            <a:r>
              <a:t>   a broken build when it is a visibility setting.</a:t>
            </a:r>
          </a:p>
          <a:p>
            <a:r>
              <a:t>   -&gt; USE THE EDITOR PREVIEW. If they want the external URL:</a:t>
            </a:r>
          </a:p>
          <a:p>
            <a:r>
              <a:t>      PORTS tab, right-click 3000, Port Visibility, Public.</a:t>
            </a:r>
          </a:p>
          <a:p/>
          <a:p>
            <a:r>
              <a:t>SECOND MOST LIKELY: the app was opened before the first compile finished,</a:t>
            </a:r>
          </a:p>
          <a:p>
            <a:r>
              <a:t>so the preview shows "connection failed". Re-run start.sh; it waits for</a:t>
            </a:r>
          </a:p>
          <a:p>
            <a:r>
              <a:t>the port and opens the browser only once the server answers.</a:t>
            </a:r>
          </a:p>
          <a:p/>
          <a:p>
            <a:r>
              <a:t>IF A CODESPACE IS UNRECOVERABLE: a new one from the table's branch takes</a:t>
            </a:r>
          </a:p>
          <a:p>
            <a:r>
              <a:t>about three minutes and loses nothing, because work is committed.</a:t>
            </a:r>
          </a:p>
          <a:p/>
          <a:p>
            <a:r>
              <a:t>SAY THIS, because the welcome screen says it too:</a:t>
            </a:r>
          </a:p>
          <a:p>
            <a:r>
              <a:t>   "The corpus is NOT indexed yet. Indexing it is F1 -- the first thing</a:t>
            </a:r>
          </a:p>
          <a:p>
            <a:r>
              <a:t>    you build. The scaffold deliberately does not do your work for you."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SCROLL THE SIX AND STOP ON THE TWO JADE ONES.</a:t>
            </a:r>
          </a:p>
          <a:p>
            <a:r>
              <a:t>"Twice today, a human says yes or no." They should know approval is coming</a:t>
            </a:r>
          </a:p>
          <a:p>
            <a:r>
              <a:t>before they start.</a:t>
            </a:r>
          </a:p>
          <a:p/>
          <a:p>
            <a:r>
              <a:t>READ THE DEFINITION OF DONE OFF THE SCREEN, verbatim, from PRD section 12:</a:t>
            </a:r>
          </a:p>
          <a:p/>
          <a:p>
            <a:r>
              <a:t>   "Build the whole product, F1 to F8, and release it in one pull request.</a:t>
            </a:r>
          </a:p>
          <a:p>
            <a:r>
              <a:t>    But you are done when you have completed all six stages and deployed</a:t>
            </a:r>
          </a:p>
          <a:p>
            <a:r>
              <a:t>    that increment to your own URL. Not when the product is</a:t>
            </a:r>
          </a:p>
          <a:p>
            <a:r>
              <a:t>    feature-complete. CUT SCOPE, NEVER A STAGE."</a:t>
            </a:r>
          </a:p>
          <a:p/>
          <a:p>
            <a:r>
              <a:t>That sentence is what the whole day hangs off. It gets said again at the</a:t>
            </a:r>
          </a:p>
          <a:p>
            <a:r>
              <a:t>halfway mark and again at the close. A team that ships F1-F5 and cuts the</a:t>
            </a:r>
          </a:p>
          <a:p>
            <a:r>
              <a:t>rest has still shaped a ticket, defended a plan, built against their own</a:t>
            </a:r>
          </a:p>
          <a:p>
            <a:r>
              <a:t>criteria, reviewed in five passes, written a rollback and released through</a:t>
            </a:r>
          </a:p>
          <a:p>
            <a:r>
              <a:t>a gate. THAT IS THE SESSION.</a:t>
            </a:r>
          </a:p>
          <a:p/>
          <a:p>
            <a:r>
              <a:t>A polished product with no review record is the worse outcome. Say that too.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MINUTES, AND IT IS NOT A WARM-UP -- it is the first acceptance</a:t>
            </a:r>
          </a:p>
          <a:p>
            <a:r>
              <a:t>criterion in disguise.</a:t>
            </a:r>
          </a:p>
          <a:p/>
          <a:p>
            <a:r>
              <a:t>WHAT A GOOD ANSWER SOUNDS LIKE:</a:t>
            </a:r>
          </a:p>
          <a:p>
            <a:r>
              <a:t>  * "Can I expense my partner's flight?" -- nothing in the corpus covers</a:t>
            </a:r>
          </a:p>
          <a:p>
            <a:r>
              <a:t>    companions, so there is no passage to ground an answer in.</a:t>
            </a:r>
          </a:p>
          <a:p>
            <a:r>
              <a:t>  * The second column is the one that matters: a refusal that just says</a:t>
            </a:r>
          </a:p>
          <a:p>
            <a:r>
              <a:t>    "I don't know" leaves the user exactly where they started. Every</a:t>
            </a:r>
          </a:p>
          <a:p>
            <a:r>
              <a:t>    document names an owning team in its front matter, so the honest</a:t>
            </a:r>
          </a:p>
          <a:p>
            <a:r>
              <a:t>    refusal names what is not covered and who to ask.</a:t>
            </a:r>
          </a:p>
          <a:p/>
          <a:p>
            <a:r>
              <a:t>THE HALF-ANSWERED QUESTION IS THE REAL LESSON. A question the corpus</a:t>
            </a:r>
          </a:p>
          <a:p>
            <a:r>
              <a:t>nearly covers will retrieve passages that look relevant and score just</a:t>
            </a:r>
          </a:p>
          <a:p>
            <a:r>
              <a:t>above a loose threshold -- and the model will answer confidently from</a:t>
            </a:r>
          </a:p>
          <a:p>
            <a:r>
              <a:t>them. That is the failure this product exists to prevent, and it is why</a:t>
            </a:r>
          </a:p>
          <a:p>
            <a:r>
              <a:t>the threshold decision in Part 2 is not a detail.</a:t>
            </a:r>
          </a:p>
          <a:p/>
          <a:p>
            <a:r>
              <a:t>Take two answers from the room, not five.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THIRTY-FIVE MINUTES, AND IT CONTAINS THE MOST IMPORTANT TWENTY OF THE DAY.</a:t>
            </a:r>
          </a:p>
          <a:p>
            <a:r>
              <a:t>Everything before this is set-up; everything after is execution.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~3 MIN: paste the shape prompt, let the agent produce its</a:t>
            </a:r>
          </a:p>
          <a:p>
            <a:r>
              <a:t>five-line summary, then:</a:t>
            </a:r>
          </a:p>
          <a:p/>
          <a:p>
            <a:r>
              <a:t>   "Look what it did. It told me what it thinks we're building and asked</a:t>
            </a:r>
          </a:p>
          <a:p>
            <a:r>
              <a:t>    to be corrected -- BEFORE writing a line. That is the whole stage."</a:t>
            </a:r>
          </a:p>
          <a:p/>
          <a:p>
            <a:r>
              <a:t>CHECK THE SUMMARY MENTIONS REFUSAL. If it does not, say so out loud. That</a:t>
            </a:r>
          </a:p>
          <a:p>
            <a:r>
              <a:t>is a finding, and the build will drift toward a chatbot that never says no.</a:t>
            </a:r>
          </a:p>
          <a:p/>
          <a:p>
            <a:r>
              <a:t>THEN STOP SHARING. Twelve minutes.</a:t>
            </a:r>
          </a:p>
          <a:p/>
          <a:p>
            <a:r>
              <a:t>THREE THINGS TO LOOK FOR ON TABLE SCREENS:</a:t>
            </a:r>
          </a:p>
          <a:p>
            <a:r>
              <a:t>  * The agent wrote the criteria and the table said "yes, looks good"</a:t>
            </a:r>
          </a:p>
          <a:p>
            <a:r>
              <a:t>      -&gt; the stage failed silently. Ask only: "Whose words are those?"</a:t>
            </a:r>
          </a:p>
          <a:p>
            <a:r>
              <a:t>  * Criteria that cannot fail -- "the system is reliable"</a:t>
            </a:r>
          </a:p>
          <a:p>
            <a:r>
              <a:t>      -&gt; untestable. "Show me the test that proves that."</a:t>
            </a:r>
          </a:p>
          <a:p>
            <a:r>
              <a:t>  * The table is ARGUING about what "refuses" means</a:t>
            </a:r>
          </a:p>
          <a:p>
            <a:r>
              <a:t>      -&gt; the stage is working. Leave them alone.</a:t>
            </a:r>
          </a:p>
          <a:p/>
          <a:p>
            <a:r>
              <a:t>HOW PRECISE SHOULD CRITERIA BE? Precise enough that two people would agree</a:t>
            </a:r>
          </a:p>
          <a:p>
            <a:r>
              <a:t>on pass or fail without talking to each other.</a:t>
            </a:r>
          </a:p>
          <a:p/>
          <a:p>
            <a:r>
              <a:t>STILL ARGUING NEAR THE END? "Lock what you have. You can amend a ticket;</a:t>
            </a:r>
          </a:p>
          <a:p>
            <a:r>
              <a:t>you cannot un-ship a build."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*** THE GATE. THIS IS THE TWENTY MINUTES THE SESSION TURNS ON. ***</a:t>
            </a:r>
          </a:p>
          <a:p/>
          <a:p>
            <a:r>
              <a:t>DEMONSTRATE ~3 MIN: paste the decision-interview prompt. The agent lists</a:t>
            </a:r>
          </a:p>
          <a:p>
            <a:r>
              <a:t>ten decisions with options and trade-offs AND STOPS.</a:t>
            </a:r>
          </a:p>
          <a:p/>
          <a:p>
            <a:r>
              <a:t>   "Ten decisions. It gave options and trade-offs, then waited. It did not</a:t>
            </a:r>
          </a:p>
          <a:p>
            <a:r>
              <a:t>    pick. If yours picks for you -- that is a finding, write it down,</a:t>
            </a:r>
          </a:p>
          <a:p>
            <a:r>
              <a:t>    it is the most interesting thing you'll see today."</a:t>
            </a:r>
          </a:p>
          <a:p/>
          <a:p>
            <a:r>
              <a:t>THEN CLOSE THE LAPTOP LID. Visibly. It is the clearest possible signal</a:t>
            </a:r>
          </a:p>
          <a:p>
            <a:r>
              <a:t>that the answers are not coming.</a:t>
            </a:r>
          </a:p>
          <a:p/>
          <a:p>
            <a:r>
              <a:t>FOR THE TABLE THAT SAYS "YOU DECIDE" -- this reframing works every time:</a:t>
            </a:r>
          </a:p>
          <a:p>
            <a:r>
              <a:t>   "Then tell me what you'd REGRET. Set the threshold too low and it</a:t>
            </a:r>
          </a:p>
          <a:p>
            <a:r>
              <a:t>    answers questions it shouldn't. Too high and it refuses things it</a:t>
            </a:r>
          </a:p>
          <a:p>
            <a:r>
              <a:t>    knows. Which of those would you rather explain to the bank?"</a:t>
            </a:r>
          </a:p>
          <a:p>
            <a:r>
              <a:t>They are not choosing a number. They are choosing which failure they can</a:t>
            </a:r>
          </a:p>
          <a:p>
            <a:r>
              <a:t>live with -- and that, they can do.</a:t>
            </a:r>
          </a:p>
          <a:p/>
          <a:p>
            <a:r>
              <a:t>WALKING THE GATE: about ninety seconds per table, and say the limit out</a:t>
            </a:r>
          </a:p>
          <a:p>
            <a:r>
              <a:t>loud so they feel it.</a:t>
            </a:r>
          </a:p>
          <a:p/>
          <a:p>
            <a:r>
              <a:t>*** REJECT ONE, IF ONE DESERVES IT. *** A room where all five pass at</a:t>
            </a:r>
          </a:p>
          <a:p>
            <a:r>
              <a:t>first ask learns that the gate is theatre. "Come back in three minutes</a:t>
            </a:r>
          </a:p>
          <a:p>
            <a:r>
              <a:t>with a reason for the threshold" costs three minutes and teaches the</a:t>
            </a:r>
          </a:p>
          <a:p>
            <a:r>
              <a:t>whole session.</a:t>
            </a:r>
          </a:p>
          <a:p/>
          <a:p>
            <a:r>
              <a:t>CALL TIME HARD AT THE END. Part 3 cannot be short.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SLIDE THAT MAKES THE GATE SURVIVABLE. Without it, a table</a:t>
            </a:r>
          </a:p>
          <a:p>
            <a:r>
              <a:t>treats the threshold as a configuration value to be guessed.</a:t>
            </a:r>
          </a:p>
          <a:p/>
          <a:p>
            <a:r>
              <a:t>The two cards are the whole decision. Once a table can say which of the</a:t>
            </a:r>
          </a:p>
          <a:p>
            <a:r>
              <a:t>two failures it prefers, the number follows in about thirty seconds.</a:t>
            </a:r>
          </a:p>
          <a:p/>
          <a:p>
            <a:r>
              <a:t>TIE IT FORWARD, because this is the loop the module closes:</a:t>
            </a:r>
          </a:p>
          <a:p>
            <a:r>
              <a:t>   "Whatever you choose, you will run your evaluation set against it at</a:t>
            </a:r>
          </a:p>
          <a:p>
            <a:r>
              <a:t>    the end. If you later change the embedding model, that number is</a:t>
            </a:r>
          </a:p>
          <a:p>
            <a:r>
              <a:t>    silently stale -- and nothing will tell you."</a:t>
            </a:r>
          </a:p>
          <a:p/>
          <a:p>
            <a:r>
              <a:t>That is a real failure this build produces reliably, and it is one of the</a:t>
            </a:r>
          </a:p>
          <a:p>
            <a:r>
              <a:t>best things a table can bring to the debrief.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LONG ONE, AND THE ONE WHERE THE FRONT OF THE ROOM GOES QUIET.</a:t>
            </a:r>
          </a:p>
          <a:p/>
          <a:p>
            <a:r>
              <a:t>Start the reference build, let one test go green on screen, then:</a:t>
            </a:r>
          </a:p>
          <a:p>
            <a:r>
              <a:t>   "Red, then green, then commit. The screen stays up but I'm not going</a:t>
            </a:r>
          </a:p>
          <a:p>
            <a:r>
              <a:t>    to talk about it. Come and look if you want to see where I am."</a:t>
            </a:r>
          </a:p>
          <a:p/>
          <a:p>
            <a:r>
              <a:t>LEAVE THE TERMINAL PROJECTED ALL HOUR. A table that is lost finds it far</a:t>
            </a:r>
          </a:p>
          <a:p>
            <a:r>
              <a:t>easier to glance at a screen than to raise a hand.</a:t>
            </a:r>
          </a:p>
          <a:p/>
          <a:p>
            <a:r>
              <a:t>THE FOUR MOMENTS:</a:t>
            </a:r>
          </a:p>
          <a:p>
            <a:r>
              <a:t>  +10 min  confirm all five tables have ingestion running. A table without</a:t>
            </a:r>
          </a:p>
          <a:p>
            <a:r>
              <a:t>           it will not finish the critical path.</a:t>
            </a:r>
          </a:p>
          <a:p>
            <a:r>
              <a:t>  +30 min  THE MID-POINT CALL (next slide). Front of room, loud, 30 sec.</a:t>
            </a:r>
          </a:p>
          <a:p>
            <a:r>
              <a:t>  +45 min  quiet walk; note which feature each table is on. That list is</a:t>
            </a:r>
          </a:p>
          <a:p>
            <a:r>
              <a:t>           the script for the final gate.</a:t>
            </a:r>
          </a:p>
          <a:p>
            <a:r>
              <a:t>  +55 min  "Five minutes. Commit what works. Broken code does not go into</a:t>
            </a:r>
          </a:p>
          <a:p>
            <a:r>
              <a:t>           a review."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FAILURES, IN THE ORDER THEY APPEAR ON TABLE SCREENS:</a:t>
            </a:r>
          </a:p>
          <a:p/>
          <a:p>
            <a:r>
              <a:t>  * A dependency added without being asked -&gt; "Did you approve that?"</a:t>
            </a:r>
          </a:p>
          <a:p>
            <a:r>
              <a:t>    It is an explicit rule of this stage, and CI refuses copyleft licences.</a:t>
            </a:r>
          </a:p>
          <a:p>
            <a:r>
              <a:t>  * A test weakened to go green -&gt; STOP THEM. Everything else in this</a:t>
            </a:r>
          </a:p>
          <a:p>
            <a:r>
              <a:t>    session is recoverable; this is the one that is not.</a:t>
            </a:r>
          </a:p>
          <a:p>
            <a:r>
              <a:t>  * Nobody has run the app, 45 minutes in -&gt; "Open the preview. Now."</a:t>
            </a:r>
          </a:p>
          <a:p>
            <a:r>
              <a:t>    A table that has never seen their own product will demo a surprise.</a:t>
            </a:r>
          </a:p>
          <a:p>
            <a:r>
              <a:t>  * Everyone watching the agent type, nobody reading -&gt; "What is it</a:t>
            </a:r>
          </a:p>
          <a:p>
            <a:r>
              <a:t>    building right now?" No answer means that table is a passenger.</a:t>
            </a:r>
          </a:p>
          <a:p/>
          <a:p>
            <a:r>
              <a:t>THE SECOND BOX IS DELIBERATE. A test that passes the first time it is run</a:t>
            </a:r>
          </a:p>
          <a:p>
            <a:r>
              <a:t>has proved nothing -- it may not be testing what anyone thinks. Watching</a:t>
            </a:r>
          </a:p>
          <a:p>
            <a:r>
              <a:t>it fail for the expected reason is the evidence.</a:t>
            </a:r>
          </a:p>
          <a:p/>
          <a:p>
            <a:r>
              <a:t>IF A CODESPACE DIES: start.sh first; editor preview for a 502; a fresh</a:t>
            </a:r>
          </a:p>
          <a:p>
            <a:r>
              <a:t>Codespace from the table's branch as the last resort, about three minutes,</a:t>
            </a:r>
          </a:p>
          <a:p>
            <a:r>
              <a:t>losing nothing.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THIS CLOSE TO VERBATIM AT THE HALFWAY MARK, THEN GO QUIET FOR A FULL</a:t>
            </a:r>
          </a:p>
          <a:p>
            <a:r>
              <a:t>TEN SECONDS. The silence is the point -- fill it and they will not have</a:t>
            </a:r>
          </a:p>
          <a:p>
            <a:r>
              <a:t>the conversation.</a:t>
            </a:r>
          </a:p>
          <a:p/>
          <a:p>
            <a:r>
              <a:t>   "Half the build is gone. Decide now, as a table, where you're stopping.</a:t>
            </a:r>
          </a:p>
          <a:p>
            <a:r>
              <a:t>    F6, F7 and F8 are cuttable and I mean that -- a table that ships F1 to</a:t>
            </a:r>
          </a:p>
          <a:p>
            <a:r>
              <a:t>    F5 clean and tells me what they cut has the better run today. The one</a:t>
            </a:r>
          </a:p>
          <a:p>
            <a:r>
              <a:t>    thing I will not accept is a product built by skipping the review.</a:t>
            </a:r>
          </a:p>
          <a:p>
            <a:r>
              <a:t>    CUT SCOPE, NEVER A STAGE. Say your number out loud to each other now."</a:t>
            </a:r>
          </a:p>
          <a:p/>
          <a:p>
            <a:r>
              <a:t>WHY THE SECOND CARD MATTERS: the top bar carries Reset from F5, Corpus</a:t>
            </a:r>
          </a:p>
          <a:p>
            <a:r>
              <a:t>with F7 and History with F8. A table that cuts F7 but leaves the Corpus</a:t>
            </a:r>
          </a:p>
          <a:p>
            <a:r>
              <a:t>button is shipping a product that advertises a screen which does not</a:t>
            </a:r>
          </a:p>
          <a:p>
            <a:r>
              <a:t>exist. That is the final gate question, so plant it here.</a:t>
            </a:r>
          </a:p>
          <a:p/>
          <a:p>
            <a:r>
              <a:t>IF THE ROOM IS BEHIND, this is also where F6-F8 get cut room-wide. It</a:t>
            </a:r>
          </a:p>
          <a:p>
            <a:r>
              <a:t>costs a thinner demo and nothing else.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FORTY-FIVE MINUTES CARRYING TWO OUTCOMES: the five-pass review, and the</a:t>
            </a:r>
          </a:p>
          <a:p>
            <a:r>
              <a:t>release evidence.</a:t>
            </a:r>
          </a:p>
          <a:p/>
          <a:p>
            <a:r>
              <a:t>Tables will arrive here mid-feature and want to keep building. HOLD THE</a:t>
            </a:r>
          </a:p>
          <a:p>
            <a:r>
              <a:t>LINE. This is what the certificate is actually about.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*** THE BEST THREE MINUTES OF THE DAY. Do not rush it, and do not</a:t>
            </a:r>
          </a:p>
          <a:p>
            <a:r>
              <a:t>pre-empt the answer -- let the agent find it live on the screen. ***</a:t>
            </a:r>
          </a:p>
          <a:p/>
          <a:p>
            <a:r>
              <a:t>Run review pass 1 (CORRECTNESS ONLY) on the example file against section</a:t>
            </a:r>
          </a:p>
          <a:p>
            <a:r>
              <a:t>4.2 of the travel policy. It finds `if claim.amount_gbp &gt; 75:` where the</a:t>
            </a:r>
          </a:p>
          <a:p>
            <a:r>
              <a:t>policy says "GBP 75 or more".</a:t>
            </a:r>
          </a:p>
          <a:p/>
          <a:p>
            <a:r>
              <a:t>   "One character. Every claim at exactly seventy-five pounds goes through</a:t>
            </a:r>
          </a:p>
          <a:p>
            <a:r>
              <a:t>    without approval, and no test fails, and the code reads fine. This is</a:t>
            </a:r>
          </a:p>
          <a:p>
            <a:r>
              <a:t>    what five passes are for."</a:t>
            </a:r>
          </a:p>
          <a:p/>
          <a:p>
            <a:r>
              <a:t>THEN THE SAME FIVE PASSES ON THEIR OWN DIFF, one pass per message.</a:t>
            </a:r>
          </a:p>
          <a:p/>
          <a:p>
            <a:r>
              <a:t>PASS 4 IS NOT PAPERWORK. Provenance and IP has already caught something</a:t>
            </a:r>
          </a:p>
          <a:p>
            <a:r>
              <a:t>real on this project -- say so. Licences are checked in CI and copyleft</a:t>
            </a:r>
          </a:p>
          <a:p>
            <a:r>
              <a:t>refuses the build.</a:t>
            </a:r>
          </a:p>
          <a:p/>
          <a:p>
            <a:r>
              <a:t>WATCH FOR: a table that finds nothing in its own code. They are not</a:t>
            </a:r>
          </a:p>
          <a:p>
            <a:r>
              <a:t>reviewing, they are asking the agent whether its own work is good. Ask</a:t>
            </a:r>
          </a:p>
          <a:p>
            <a:r>
              <a:t>"which pass are you on, and what did it say?"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DEMONSTRATE ~2 MIN: write the release plan, then push and open the pull</a:t>
            </a:r>
          </a:p>
          <a:p>
            <a:r>
              <a:t>request on screen.</a:t>
            </a:r>
          </a:p>
          <a:p/>
          <a:p>
            <a:r>
              <a:t>   "Four checks run. NOTHING DEPLOYS. Three hours in and none of this has</a:t>
            </a:r>
          </a:p>
          <a:p>
            <a:r>
              <a:t>    been near a URL. The merge is the deploy, and the merge needs a human."</a:t>
            </a:r>
          </a:p>
          <a:p/>
          <a:p>
            <a:r>
              <a:t>*** THIS IS WHERE THE DEPLOYMENT LESSON LANDS. Do not skate over it. ***</a:t>
            </a:r>
          </a:p>
          <a:p/>
          <a:p>
            <a:r>
              <a:t>No table writes any CI/CD -- the scaffold ships it. What a table produces</a:t>
            </a:r>
          </a:p>
          <a:p>
            <a:r>
              <a:t>is RELEASE EVIDENCE, and what it runs is the CONTROL FLOW. That is exactly</a:t>
            </a:r>
          </a:p>
          <a:p>
            <a:r>
              <a:t>what is being assessed and nothing more. The point: RELEASE IS A</a:t>
            </a:r>
          </a:p>
          <a:p>
            <a:r>
              <a:t>GOVERNANCE ACT, NOT A COMMAND. A table that could type a deploy command</a:t>
            </a:r>
          </a:p>
          <a:p>
            <a:r>
              <a:t>would never feel it.</a:t>
            </a:r>
          </a:p>
          <a:p/>
          <a:p>
            <a:r>
              <a:t>ON THE ROLLBACK, the line that lands:</a:t>
            </a:r>
          </a:p>
          <a:p>
            <a:r>
              <a:t>   "Write the rollback BEFORE you merge. Not because you'll need it.</a:t>
            </a:r>
          </a:p>
          <a:p>
            <a:r>
              <a:t>    Because writing it afterwards is called an incident report."</a:t>
            </a:r>
          </a:p>
          <a:p/>
          <a:p>
            <a:r>
              <a:t>BRANCH PROTECTION WILL BITE ONE TABLE. Say it as a control, not an</a:t>
            </a:r>
          </a:p>
          <a:p>
            <a:r>
              <a:t>apology: "A different person approves. That's not the tool being awkward,</a:t>
            </a:r>
          </a:p>
          <a:p>
            <a:r>
              <a:t>that's the control." That cross-table approval is also the best thirty</a:t>
            </a:r>
          </a:p>
          <a:p>
            <a:r>
              <a:t>seconds of peer learning in the session.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ABOUT TWO MINUTES PER TABLE. ASK ALL SIX EVEN WHEN THE ANSWER IS VISIBLE</a:t>
            </a:r>
          </a:p>
          <a:p>
            <a:r>
              <a:t>-- the room is watching the ritual, not the result.</a:t>
            </a:r>
          </a:p>
          <a:p/>
          <a:p>
            <a:r>
              <a:t>*** THEN WAIT TWO MINUTES BEFORE READING THE HEALTH ENDPOINT. ***</a:t>
            </a:r>
          </a:p>
          <a:p>
            <a:r>
              <a:t>A freshly deployed container indexes the corpus in a background thread so</a:t>
            </a:r>
          </a:p>
          <a:p>
            <a:r>
              <a:t>health can answer while it works. For the first minute or two the vector</a:t>
            </a:r>
          </a:p>
          <a:p>
            <a:r>
              <a:t>store reports "collection not created yet", then flips to the passage</a:t>
            </a:r>
          </a:p>
          <a:p>
            <a:r>
              <a:t>count. IT IS A COLD START, NOT A FAILED BUILD. Refresh before sending</a:t>
            </a:r>
          </a:p>
          <a:p>
            <a:r>
              <a:t>anyone back to their agent.</a:t>
            </a:r>
          </a:p>
          <a:p/>
          <a:p>
            <a:r>
              <a:t>WHEN A TABLE SHOWS A REFUSAL, say this:</a:t>
            </a:r>
          </a:p>
          <a:p>
            <a:r>
              <a:t>   "Watch what it just did. It had a model that would happily have</a:t>
            </a:r>
          </a:p>
          <a:p>
            <a:r>
              <a:t>    answered that, and it refused BEFORE it even called it. That is not</a:t>
            </a:r>
          </a:p>
          <a:p>
            <a:r>
              <a:t>    the product failing. That is the only reason a bank would let it near</a:t>
            </a:r>
          </a:p>
          <a:p>
            <a:r>
              <a:t>    a staff member."</a:t>
            </a:r>
          </a:p>
          <a:p/>
          <a:p>
            <a:r>
              <a:t>AND SAY THIS OUT LOUD, naming the table:</a:t>
            </a:r>
          </a:p>
          <a:p>
            <a:r>
              <a:t>   "They cut two features and shipped something that works, with a review</a:t>
            </a:r>
          </a:p>
          <a:p>
            <a:r>
              <a:t>    record and a rollback. THAT is the better run today."</a:t>
            </a:r>
          </a:p>
          <a:p>
            <a:r>
              <a:t>If it is not said, the next cohort hears that eight features was the bar.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*** THIS IS THE OUTCOME NOTHING ELSE IN THE MODULE TEACHES. PROTECT IT.</a:t>
            </a:r>
          </a:p>
          <a:p>
            <a:r>
              <a:t>If the clock is tight, take the minutes from the build, not from here. ***</a:t>
            </a:r>
          </a:p>
          <a:p/>
          <a:p>
            <a:r>
              <a:t>THE MIDDLE COLUMN IS THE ONE THAT MATTERS. A table that says "AI helped</a:t>
            </a:r>
          </a:p>
          <a:p>
            <a:r>
              <a:t>everywhere and nothing went wrong" has not looked. Push once:</a:t>
            </a:r>
          </a:p>
          <a:p/>
          <a:p>
            <a:r>
              <a:t>   "Nothing? You all accepted a plan from something that had never seen</a:t>
            </a:r>
          </a:p>
          <a:p>
            <a:r>
              <a:t>    your corpus. What did it get wrong first?"</a:t>
            </a:r>
          </a:p>
          <a:p/>
          <a:p>
            <a:r>
              <a:t>GOOD ANSWERS YOU MIGHT HEAR, so they are recognisable:</a:t>
            </a:r>
          </a:p>
          <a:p>
            <a:r>
              <a:t>  * "It picked a threshold that looked fine and refused a question we knew</a:t>
            </a:r>
          </a:p>
          <a:p>
            <a:r>
              <a:t>     the corpus answered."</a:t>
            </a:r>
          </a:p>
          <a:p>
            <a:r>
              <a:t>  * "It wrote our acceptance criteria for us and we nearly let it."</a:t>
            </a:r>
          </a:p>
          <a:p>
            <a:r>
              <a:t>  * "We changed the embedding model and our threshold was silently stale."</a:t>
            </a:r>
          </a:p>
          <a:p>
            <a:r>
              <a:t>  * "The review found a bug none of our tests covered."</a:t>
            </a:r>
          </a:p>
          <a:p/>
          <a:p>
            <a:r>
              <a:t>THE THIRD COLUMN should name a real mechanism: the plan gate, the five</a:t>
            </a:r>
          </a:p>
          <a:p>
            <a:r>
              <a:t>passes, the pull-request approval, the CI scope check, the refusal path.</a:t>
            </a:r>
          </a:p>
          <a:p/>
          <a:p>
            <a:r>
              <a:t>Five tables at sixty seconds plus a short synthesis is the minimum that</a:t>
            </a:r>
          </a:p>
          <a:p>
            <a:r>
              <a:t>works.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TWO MINUTES. These are deliberately about THEIR work on Monday, not about</a:t>
            </a:r>
          </a:p>
          <a:p>
            <a:r>
              <a:t>Aldermere Bank.</a:t>
            </a:r>
          </a:p>
          <a:p/>
          <a:p>
            <a:r>
              <a:t>TAKEAWAY 2 IS THE ONE TO DWELL ON if there is time. Most people in the</a:t>
            </a:r>
          </a:p>
          <a:p>
            <a:r>
              <a:t>room go back to a team already using an agent, and the failure mode is not</a:t>
            </a:r>
          </a:p>
          <a:p>
            <a:r>
              <a:t>bad code -- it is decisions being made inside a tool with nobody's name</a:t>
            </a:r>
          </a:p>
          <a:p>
            <a:r>
              <a:t>on them.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BRIDGE LINE TO DAY 5 -- say it close to verbatim:</a:t>
            </a:r>
          </a:p>
          <a:p/>
          <a:p>
            <a:r>
              <a:t>   "You've built and released a working slice with the evidence to back</a:t>
            </a:r>
          </a:p>
          <a:p>
            <a:r>
              <a:t>    it. Tomorrow scales that question -- serving, reliability,</a:t>
            </a:r>
          </a:p>
          <a:p>
            <a:r>
              <a:t>    observability and cost when a bank's customers depend on it."</a:t>
            </a:r>
          </a:p>
          <a:p/>
          <a:p>
            <a:r>
              <a:t>THEN THE LAST THING SAID TODAY. Do not end on logistics:</a:t>
            </a:r>
          </a:p>
          <a:p/>
          <a:p>
            <a:r>
              <a:t>   "Everything you built today, an agent could have written in twenty</a:t>
            </a:r>
          </a:p>
          <a:p>
            <a:r>
              <a:t>    minutes. It took two and a half hours because somebody had to be</a:t>
            </a:r>
          </a:p>
          <a:p>
            <a:r>
              <a:t>    accountable for it. That difference is the job now."</a:t>
            </a:r>
          </a:p>
          <a:p/>
          <a:p>
            <a:r>
              <a:t>AFTERWARDS, while the room empties, write down:</a:t>
            </a:r>
          </a:p>
          <a:p>
            <a:r>
              <a:t>  * which feature each table reached -- the only honest basis for the next</a:t>
            </a:r>
          </a:p>
          <a:p>
            <a:r>
              <a:t>    cohort's timings and the halfway prompt</a:t>
            </a:r>
          </a:p>
          <a:p>
            <a:r>
              <a:t>  * whether any agent settled the ten decisions without being asked, in</a:t>
            </a:r>
          </a:p>
          <a:p>
            <a:r>
              <a:t>    its exact words; that is a scaffold defect and it is fixable</a:t>
            </a:r>
          </a:p>
          <a:p>
            <a:r>
              <a:t>  * whether any table tried to skip the review to finish a feature</a:t>
            </a:r>
          </a:p>
          <a:p>
            <a:r>
              <a:t>  * the best answer to the debrief question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" name="Google Shape;6;p3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14400" y="9620250"/>
            <a:ext cx="2219327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31"/>
          <p:cNvSpPr txBox="1"/>
          <p:nvPr/>
        </p:nvSpPr>
        <p:spPr>
          <a:xfrm>
            <a:off x="978500" y="10039350"/>
            <a:ext cx="66675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66666"/>
                </a:solidFill>
              </a:rPr>
              <a:t>© Copyright National University of Singapore. All Rights Reserved.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42829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CV-NUS AIDF · AI PRACTITIONER CERTIFICATE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4859000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00141A"/>
                </a:solidFill>
                <a:latin typeface="Arial"/>
              </a:rPr>
              <a:t>Policy Assistant: A Build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>
                <a:solidFill>
                  <a:srgbClr val="00141A"/>
                </a:solidFill>
                <a:latin typeface="Arial"/>
              </a:rPr>
              <a:t>You Can Defend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87368"/>
            <a:ext cx="14282928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068A5A"/>
                </a:solidFill>
                <a:latin typeface="Arial"/>
              </a:rPr>
              <a:t>Who approved this, and how would you get it back?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90872"/>
            <a:ext cx="1333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One policy assistant for a bank, built five times through six governed stages, with two human gates and a deploy nobody is allowed to type.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340096"/>
            <a:ext cx="5330952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42829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333333"/>
                </a:solidFill>
                <a:latin typeface="Arial"/>
              </a:rPr>
              <a:t>M04: AI-Native Development Lifecycle · Hands-On Lab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What We Will Cover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16459200" cy="1426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12848"/>
            <a:ext cx="54864" cy="14264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743200"/>
            <a:ext cx="8595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728" y="2642615"/>
            <a:ext cx="11237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The Brief and Your Codespace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008376"/>
            <a:ext cx="1123797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What are we building, and what is already running?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00048" y="2798064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10 min · Part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758183"/>
            <a:ext cx="16459200" cy="1426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758183"/>
            <a:ext cx="54864" cy="14264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89888" y="4288536"/>
            <a:ext cx="8595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5728" y="4187951"/>
            <a:ext cx="11237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Shape and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95728" y="4553712"/>
            <a:ext cx="1123797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Ten decisions nobody will make for you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00048" y="4343399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35 min · Part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303519"/>
            <a:ext cx="16459200" cy="1426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5303519"/>
            <a:ext cx="54864" cy="14264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89888" y="5833871"/>
            <a:ext cx="8595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95728" y="5733287"/>
            <a:ext cx="11237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Build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6099047"/>
            <a:ext cx="1123797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Direct the agent; the clock is the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00048" y="5888735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60 min · Part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6848855"/>
            <a:ext cx="16459200" cy="14264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6848855"/>
            <a:ext cx="54864" cy="14264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7379207"/>
            <a:ext cx="859536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7278623"/>
            <a:ext cx="1123797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Review, Release and Defend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95728" y="7644383"/>
            <a:ext cx="11237976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Five passes, a rollback, and a live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00048" y="7434071"/>
            <a:ext cx="28529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666666"/>
                </a:solidFill>
                <a:latin typeface="Arial"/>
              </a:rPr>
              <a:t>45 min · Part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HOW THIS SESSION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Every Stage Runs the Same Way: It Is Demonstrated Once on the Screen, Then Every Table Does It With Their Own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Four beats per stage, and the third one is the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Five tables. One keyboard each — one person drives at a 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Everything is already configured: your key, your database, your vector store.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Your agent creates your working branch itself. You do not need 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The ten decisions are never shown on this screen. You will be asked to defend yours.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SHOWN ONCE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EVERY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1 · The stage names
what you produce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2 · It is demonstrated
once, on screen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3 · Your table does it
with your 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4 · A human approves —
or sends it back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Each stage: one demonstration, then the work, then a gate or a hand-off.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I DO, YOU DO: THE SAME FOUR BEATS IN EVERY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1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640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0" b="1">
                <a:solidFill>
                  <a:srgbClr val="A9DCC6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92624"/>
            <a:ext cx="1428292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5200" b="1">
                <a:solidFill>
                  <a:srgbClr val="00141A"/>
                </a:solidFill>
                <a:latin typeface="Arial"/>
              </a:rPr>
              <a:t>The Brief and Your Codespace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08192"/>
            <a:ext cx="1901952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428232"/>
            <a:ext cx="1428292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068A5A"/>
                </a:solidFill>
                <a:latin typeface="Arial"/>
              </a:rPr>
              <a:t>What are we building, and what is already running?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068312"/>
            <a:ext cx="1333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Before anyone writes a line, the room should know the product, the environment it runs in, and the two moments a human decides.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1 · 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A Staff Member Asks a Policy Question; the Assistant Answers Only From the Bank's Corpus, and Says So When It Cannot.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Five policy documents for Aldermere Bank — synthetic, written for teaching.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Every answer cites the sections it used, and a citation opens that section.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 question the corpus cannot support gets a refusal, before any model 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Superseded policy is indexed too, and flagged loudly whenever it is cited.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The refusal is the product. It is why a bank would allow this near staff at 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42900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6118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Travel and expense policy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91088" y="388620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70916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8920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Data retention 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91088" y="516636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598932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61722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Outsourcing and third parties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91088" y="644652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726948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74523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 superseded version, kept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91088" y="772668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573000" y="5120640"/>
            <a:ext cx="4389120" cy="141732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5880" y="54406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Indexed once, then searched
before anything is answered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RETRIEVE FIRST, THEN ANSWER — AND REFUSE BEFORE THE MODEL IS EVER CALLED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1 · YOUR CODESPACE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Everything Is Already Running. You Set Up Nothing, and the Corpus Is Not Indexed Yet — That Is the First Thing You Build.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One Codespace per table, opened from your own branch.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 database and a vector store run beside you. They are yours alone.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Your model key is already in the environment. Nothing is in the repo.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./scripts/start.sh brings both services up and opens the app for you.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Use the editor preview. A 502 on the forwarded URL is a visibility setting, never your build.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ALREADY CONFIGURED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WHERE YOU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Open from
your branch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start.sh runs
both services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Preview opens
at :3000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API docs
at :8000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Frontend on :3000 · API on :8000 · logs in /tmp/frontend.log and /tmp/backend.log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THE SCAFFOLD RUNS; INDEXING THE CORPUS IS F1, THE FIRST THING YOU BUILD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1 · THE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Six Stages, and Twice Today a Human Decides Whether You Go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017520"/>
            <a:ext cx="80741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017520"/>
            <a:ext cx="54864" cy="157276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1927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01 Shape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831335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Acceptance criteria, in your 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82312"/>
            <a:ext cx="8074152" cy="157276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782312"/>
            <a:ext cx="73152" cy="1572768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508406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68A5A"/>
                </a:solidFill>
                <a:latin typeface="Arial"/>
              </a:rPr>
              <a:t>02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596127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 human approves the plan — or rejects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6547103"/>
            <a:ext cx="80741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6547103"/>
            <a:ext cx="54864" cy="157276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848855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03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7360919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Your own criteria pass — run, not asserted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9448" y="3017520"/>
            <a:ext cx="80741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9448" y="3017520"/>
            <a:ext cx="54864" cy="157276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3319272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04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6648" y="3831335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Five passes; every finding gets a decision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9448" y="4782312"/>
            <a:ext cx="8074152" cy="1572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99448" y="4782312"/>
            <a:ext cx="54864" cy="157276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5084064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05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5596127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 rollback, in writing, before anything merges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9448" y="6547103"/>
            <a:ext cx="8074152" cy="157276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99448" y="6547103"/>
            <a:ext cx="73152" cy="1572768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6848855"/>
            <a:ext cx="7223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68A5A"/>
                </a:solidFill>
                <a:latin typeface="Arial"/>
              </a:rPr>
              <a:t>06 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6648" y="7360919"/>
            <a:ext cx="7223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It answers on your live URL — watched, not reported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8430768"/>
            <a:ext cx="1645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Done is a completed pipeline and a deployed increment — not a finished product.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Cut scope, never a stage. F6, F7 and F8 are the scope that gets cut.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1 ·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Before Anything Is Built: Which Question Should This Assistant Refuse, and How Would You Know It Was Right 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52928"/>
            <a:ext cx="54864" cy="77724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898648"/>
            <a:ext cx="36576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HOW YOU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493008"/>
            <a:ext cx="1485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Open the corpus as a table and find one question it genuinely cannot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What makes it
unanswerable?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9448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99448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What should the
user get instead?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119872"/>
            <a:ext cx="1524304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068A5A"/>
                </a:solidFill>
                <a:latin typeface="Arial"/>
              </a:rPr>
              <a:t>Watch for: a question the corpus half-answers. Those are the dangerous 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2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640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0" b="1">
                <a:solidFill>
                  <a:srgbClr val="A9DCC6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92624"/>
            <a:ext cx="1428292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5200" b="1">
                <a:solidFill>
                  <a:srgbClr val="00141A"/>
                </a:solidFill>
                <a:latin typeface="Arial"/>
              </a:rPr>
              <a:t>Shape and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08192"/>
            <a:ext cx="1901952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428232"/>
            <a:ext cx="1428292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068A5A"/>
                </a:solidFill>
                <a:latin typeface="Arial"/>
              </a:rPr>
              <a:t>Ten decisions nobody will make for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068312"/>
            <a:ext cx="1333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You write the acceptance criteria, you settle the ten open decisions, and a human approves the plan before any code exists.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2 · STAGE 01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The Acceptance Criteria Are Written by You, in Your Words — Because at the Last Gate You Will Read Them Back.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The agent is not the source of the requirements. You 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It summarises what it believes you are building, so you can correct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It asks what it needs to know, one question at a time, and waits.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Each answer is played back as a single pass-or-fail statement.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You cannot read back something you never wrote.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THE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THE TABLE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It summarises
five lines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It asks
one at a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You decide
and confirm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It writes the
ticket, your words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One epic holds the criteria; eight child tickets hold the tracking.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YOU ARE NOT GETTING REQUIREMENTS FROM THE AGENT — YOU ARE GIVING THEM TO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2 · STAGE 02 PLAN · GATE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Your Agent Will Offer to Make Ten Decisions for You. It Must Not, and Neither Will This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Chunking. Threshold. How many passages. What to do when two policies disagree.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The agent gives you options and trade-offs for each, then stops and waits.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If yours decides instead — write that down. It is a finding, and a good one.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“You decide” is answered with a question: which failure would you rather explain?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“The agent chose it” is a failed answer — at this gate and at the last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WHAT IS ASKED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WHAT HAPPENS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Why this
chunk size?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Why this
threshold?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What are you
NOT doing?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Approved —
or three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 plan is rejected if the reasons are the agent's rather than the table's.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A HUMAN APPROVES THE PLAN BEFORE A LINE OF IT IS BUILT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2 ·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Pick the Threshold Your Table Will Defend, and Say Out Loud Which Failure You Are Choosing.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52928"/>
            <a:ext cx="54864" cy="77724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898648"/>
            <a:ext cx="36576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HOW YOU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493008"/>
            <a:ext cx="1485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Every decision gets your reason recorded beside it, in your own words.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Too low: it answers
what it shouldn't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9448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99448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Too high: it refuses
what it knows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119872"/>
            <a:ext cx="1524304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068A5A"/>
                </a:solidFill>
                <a:latin typeface="Arial"/>
              </a:rPr>
              <a:t>There is no correct number. There is only a number you can explain and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3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640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0" b="1">
                <a:solidFill>
                  <a:srgbClr val="A9DCC6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92624"/>
            <a:ext cx="1428292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5200" b="1">
                <a:solidFill>
                  <a:srgbClr val="00141A"/>
                </a:solidFill>
                <a:latin typeface="Arial"/>
              </a:rPr>
              <a:t>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08192"/>
            <a:ext cx="1901952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428232"/>
            <a:ext cx="1428292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068A5A"/>
                </a:solidFill>
                <a:latin typeface="Arial"/>
              </a:rPr>
              <a:t>Direct the agent; the clock is the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068312"/>
            <a:ext cx="1333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Sixty minutes, eight features, and a decision at the halfway mark about where you are going to stop.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3 ·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Write the Test, Run It, Commit — and Stop the Agent the Moment the Plan Turns Out To Be Wrong.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The acceptance criteria are the specification. The tests come from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Stop and ask before adding any dependency. Licences are checked in CI.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Never weaken or skip a test to get a green build. That is the one rule.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Configuration comes from the environment, not from literals in the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Add each top-bar action only when its screen exists. No button that goes nowhere.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EVERY 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EVERY TIME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Write the test
from a criterion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Watch it fail
for the right reason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Make it pass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Commit, saying
what and why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Eight features. F6, F7 and F8 are cuttable; the six stages are not.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A FEATURE IS FINISHED WHEN ITS “DONE WHEN” LINE IS SATISFIED, AND SHOWN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3 ·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Half the Build Is Gone. Decide Now, as a Table, Where You Are Going To Stop.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52928"/>
            <a:ext cx="54864" cy="77724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898648"/>
            <a:ext cx="36576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HOW YOU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493008"/>
            <a:ext cx="1485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Say your number out loud to each other now — F5, F6, F7 or all eight.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A clean F1–F5 is
the better run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9448" y="4398264"/>
            <a:ext cx="8074152" cy="342900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99448" y="4398264"/>
            <a:ext cx="73152" cy="342900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56648" y="5074920"/>
            <a:ext cx="7159752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600" b="1">
                <a:solidFill>
                  <a:srgbClr val="00141A"/>
                </a:solidFill>
                <a:latin typeface="Arial"/>
              </a:rPr>
              <a:t>What you cut, you cut
from the interface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8119872"/>
            <a:ext cx="1524304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068A5A"/>
                </a:solidFill>
                <a:latin typeface="Arial"/>
              </a:rPr>
              <a:t>Cut scope, never a stage. A product built by skipping the review is the one failure here.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4 OF 4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6402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0" b="1">
                <a:solidFill>
                  <a:srgbClr val="A9DCC6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92624"/>
            <a:ext cx="14282928" cy="905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5200" b="1">
                <a:solidFill>
                  <a:srgbClr val="00141A"/>
                </a:solidFill>
                <a:latin typeface="Arial"/>
              </a:rPr>
              <a:t>Review, Release and Defend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108192"/>
            <a:ext cx="1901952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428232"/>
            <a:ext cx="14282928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0">
                <a:solidFill>
                  <a:srgbClr val="068A5A"/>
                </a:solidFill>
                <a:latin typeface="Arial"/>
              </a:rPr>
              <a:t>Five passes, a rollback, and a live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068312"/>
            <a:ext cx="1333195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Three hours in, none of this has been near a URL. The merge is the deploy, and the merge needs a human.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4 · STAGE 04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One Character. No Failing Test. Every Claim at Exactly £75 Goes Through Without Approval.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Five passes, one at a time. Ask for all five at once and you get five shallow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Correctness · security and privacy · maintainability · provenance and IP · fitness.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Every finding gets a decision written down — including the ones you are not fixing.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First on code that is not yours, so the passes are practised before they matter.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“We know, and we accepted it” is a professional answer. “We didn't look” is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06640" y="342900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361188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The policy says “£75 or more”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91088" y="388620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06640" y="470916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489204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The code says  amount &gt; 75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91088" y="516636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06640" y="598932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617220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Every test passes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91088" y="644652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7269480"/>
            <a:ext cx="3566160" cy="96012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7452360"/>
            <a:ext cx="3291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The code reads perfectly fine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91088" y="7726680"/>
            <a:ext cx="118872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573000" y="5120640"/>
            <a:ext cx="4389120" cy="141732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5880" y="5440680"/>
            <a:ext cx="40233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Pass 1 finds it.
Nothing else would have.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ONE PASS FINDS THE CRASH — THE FIFTH FINDS THIS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4 · STAGE 05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Nobody in This Room Deploys Anything. A Human Approving a Pull Request Does.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43784"/>
            <a:ext cx="5715000" cy="6263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43784"/>
            <a:ext cx="5715000" cy="54864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118104"/>
            <a:ext cx="5120640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00141A"/>
                </a:solidFill>
                <a:latin typeface="Arial"/>
              </a:rPr>
              <a:t>One pull request, carrying the whole product. Four checks run. Nothing goes 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005072"/>
            <a:ext cx="758952" cy="2743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3367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You cannot approve your own. Find someone at another table — that is the control.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9379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The rollback is written before the merge. Afterwards it is an incident report.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6153912"/>
            <a:ext cx="512064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Merging is the deploy. About ninety seconds later it is on your own URL.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34440" y="7598664"/>
            <a:ext cx="5120640" cy="1252728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7754112"/>
            <a:ext cx="45720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Releasing is not “it deployed”. It is the evidence that it is safe to run.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2843784"/>
            <a:ext cx="10515600" cy="626364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71832" y="4663440"/>
            <a:ext cx="4754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0141A"/>
                </a:solidFill>
                <a:latin typeface="Arial"/>
              </a:rPr>
              <a:t>AFTER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Open the PR
four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00616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20656" y="5212080"/>
            <a:ext cx="2212848" cy="1005840"/>
          </a:xfrm>
          <a:prstGeom prst="rect">
            <a:avLst/>
          </a:prstGeom>
          <a:solidFill>
            <a:srgbClr val="F4F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12096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 different human
approves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051792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371832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63272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Merge — and
that is the deploy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602968" y="5705856"/>
            <a:ext cx="320040" cy="18288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923008" y="5212080"/>
            <a:ext cx="2212848" cy="1005840"/>
          </a:xfrm>
          <a:prstGeom prst="rect">
            <a:avLst/>
          </a:prstGeom>
          <a:solidFill>
            <a:srgbClr val="ECEF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14448" y="5376672"/>
            <a:ext cx="202996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Validate on
your URL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6720840"/>
            <a:ext cx="98298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0">
                <a:solidFill>
                  <a:srgbClr val="00141A"/>
                </a:solidFill>
                <a:latin typeface="Arial"/>
              </a:rPr>
              <a:t>Approve → deploy → validate → confirm against your criteria, and always a way back.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14032" y="8906256"/>
            <a:ext cx="73152" cy="73152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8823960"/>
            <a:ext cx="9902952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THE CONTROL FLOW IS THE LESSON — NOT THE DEPLOYMENT TOOLING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4 · STAGE 06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Six Questions, Table by Table. Answer Them From Your Artefacts, Not From Memory.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51760"/>
            <a:ext cx="8074152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651760"/>
            <a:ext cx="54864" cy="122529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9260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926079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00141A"/>
                </a:solidFill>
                <a:latin typeface="Arial"/>
              </a:rPr>
              <a:t>Show me your ticket.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224528"/>
            <a:ext cx="8074152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4224528"/>
            <a:ext cx="54864" cy="122529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4988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49884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00141A"/>
                </a:solidFill>
                <a:latin typeface="Arial"/>
              </a:rPr>
              <a:t>Read me your criteria — in your words.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797296"/>
            <a:ext cx="8074152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5797296"/>
            <a:ext cx="54864" cy="122529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60716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6071616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00141A"/>
                </a:solidFill>
                <a:latin typeface="Arial"/>
              </a:rPr>
              <a:t>Show me the test that was red and is now green.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99448" y="2651760"/>
            <a:ext cx="8074152" cy="1225296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99448" y="2651760"/>
            <a:ext cx="73152" cy="122529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56648" y="2926079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9608" y="2926079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00141A"/>
                </a:solidFill>
                <a:latin typeface="Arial"/>
              </a:rPr>
              <a:t>Which review finding did you accept, and why?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9448" y="4224528"/>
            <a:ext cx="8074152" cy="1225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99448" y="4224528"/>
            <a:ext cx="54864" cy="1225296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4498848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79608" y="4498848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0">
                <a:solidFill>
                  <a:srgbClr val="00141A"/>
                </a:solidFill>
                <a:latin typeface="Arial"/>
              </a:rPr>
              <a:t>How do we get this back if it is wrong?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99448" y="5797296"/>
            <a:ext cx="8074152" cy="1225296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99448" y="5797296"/>
            <a:ext cx="73152" cy="122529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6648" y="6071616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800" b="1">
                <a:solidFill>
                  <a:srgbClr val="068A5A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9608" y="6071616"/>
            <a:ext cx="6400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000" b="1">
                <a:solidFill>
                  <a:srgbClr val="00141A"/>
                </a:solidFill>
                <a:latin typeface="Arial"/>
              </a:rPr>
              <a:t>What did you cut, and does the interface still offer it?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589520"/>
            <a:ext cx="1645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All six answered → approved → merge → it is live.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8229600"/>
            <a:ext cx="1645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Then show three things on your own URL: an answer with citations, a refusal, and what you cut.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PART 4 ·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Where Did AI Help, Where Did It Displace or Risk Something, and Which Control Caught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852928"/>
            <a:ext cx="54864" cy="77724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2898648"/>
            <a:ext cx="36576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HOW YOU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97864" y="3493008"/>
            <a:ext cx="1485900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0141A"/>
                </a:solidFill>
                <a:latin typeface="Arial"/>
              </a:rPr>
              <a:t>Sixty seconds per table, using your own artefacts as the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98264"/>
            <a:ext cx="533095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398264"/>
            <a:ext cx="54864" cy="26974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800600"/>
            <a:ext cx="45079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00141A"/>
                </a:solidFill>
                <a:latin typeface="Arial"/>
              </a:rPr>
              <a:t>AI helped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897880"/>
            <a:ext cx="45079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One place it genuinely
reduced the 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73952" y="4398264"/>
            <a:ext cx="5330952" cy="2697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73952" y="4398264"/>
            <a:ext cx="54864" cy="269748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4800600"/>
            <a:ext cx="45079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00141A"/>
                </a:solidFill>
                <a:latin typeface="Arial"/>
              </a:rPr>
              <a:t>AI displaced or risked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5897880"/>
            <a:ext cx="45079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One place, honestly —
and this is the hard column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33504" y="4398264"/>
            <a:ext cx="5330952" cy="2697480"/>
          </a:xfrm>
          <a:prstGeom prst="rect">
            <a:avLst/>
          </a:prstGeom>
          <a:solidFill>
            <a:srgbClr val="E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033504" y="4398264"/>
            <a:ext cx="73152" cy="269748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444984" y="4800600"/>
            <a:ext cx="45079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600" b="1">
                <a:solidFill>
                  <a:srgbClr val="068A5A"/>
                </a:solidFill>
                <a:latin typeface="Arial"/>
              </a:rPr>
              <a:t>The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44984" y="5897880"/>
            <a:ext cx="450799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What stopped a weak output
reaching production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498079"/>
            <a:ext cx="15243048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068A5A"/>
                </a:solidFill>
                <a:latin typeface="Arial"/>
              </a:rPr>
              <a:t>An empty middle column is a red flag, not a clean run.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Three Ideas to Apply to Your Own Delivery on Monday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21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16459200" cy="1938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212848"/>
            <a:ext cx="54864" cy="1938528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89888" y="2862072"/>
            <a:ext cx="114300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400" b="1">
                <a:solidFill>
                  <a:srgbClr val="A9DCC6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2752344"/>
            <a:ext cx="14100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00141A"/>
                </a:solidFill>
                <a:latin typeface="Arial"/>
              </a:rPr>
              <a:t>Name the gate before you name the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3246120"/>
            <a:ext cx="1410004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The question is not which agent you use. It is where a human decides, and whether that decision is written down anywhere.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352544"/>
            <a:ext cx="16459200" cy="1938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352544"/>
            <a:ext cx="54864" cy="1938528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5001768"/>
            <a:ext cx="114300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400" b="1">
                <a:solidFill>
                  <a:srgbClr val="A9DCC6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4892040"/>
            <a:ext cx="14100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00141A"/>
                </a:solidFill>
                <a:latin typeface="Arial"/>
              </a:rPr>
              <a:t>Make the agent show you the options, then stop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5385816"/>
            <a:ext cx="1410004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An agent that decides for you has moved the accountability without telling you. Ask for trade-offs and a recommendation, not an answer.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6492240"/>
            <a:ext cx="16459200" cy="19385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6492240"/>
            <a:ext cx="54864" cy="1938528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7141464"/>
            <a:ext cx="1143000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400" b="1">
                <a:solidFill>
                  <a:srgbClr val="A9DCC6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61488" y="7031736"/>
            <a:ext cx="1410004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00141A"/>
                </a:solidFill>
                <a:latin typeface="Arial"/>
              </a:rPr>
              <a:t>A release you cannot reverse is not a release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61488" y="7525512"/>
            <a:ext cx="1410004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Write the rollback before the merge. What you are shipping is the evidence that it is safe to run, not the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813816"/>
            <a:ext cx="493776" cy="36576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63624" y="722376"/>
            <a:ext cx="1561795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500" b="1">
                <a:solidFill>
                  <a:srgbClr val="068A5A"/>
                </a:solidFill>
                <a:latin typeface="Arial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71016"/>
            <a:ext cx="15901416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3900" b="1">
                <a:solidFill>
                  <a:srgbClr val="00141A"/>
                </a:solidFill>
                <a:latin typeface="Arial"/>
              </a:rPr>
              <a:t>You Built It, Reviewed It, and a Human Put It Live. Tomorrow Asks What It Takes To Run It at Bank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9418320"/>
            <a:ext cx="16459200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19488"/>
            <a:ext cx="2221992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989552" y="9738360"/>
            <a:ext cx="56692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0141A"/>
                </a:solidFill>
                <a:latin typeface="Arial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524304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Everything today ran on a fictional bank and a synthetic corpus, built so every control could be seen working — and seen failing.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02152"/>
            <a:ext cx="83850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DONE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1552" y="3502152"/>
            <a:ext cx="724204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68A5A"/>
                </a:solidFill>
                <a:latin typeface="Arial"/>
              </a:rPr>
              <a:t>TAKE BACK TO YOUR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838504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A ticket and acceptance criteria in your own words.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029200"/>
            <a:ext cx="838504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Ten decisions you can defend, with your reasons recorded.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80760"/>
            <a:ext cx="838504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A five-pass review with a decision on every finding.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132320"/>
            <a:ext cx="8385048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A rollback written before the merge, and a deployed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31552" y="3977639"/>
            <a:ext cx="7242048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31552" y="3977639"/>
            <a:ext cx="45720" cy="128016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0" y="4059935"/>
            <a:ext cx="6702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Where does a human decide?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4398264"/>
            <a:ext cx="6702552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For each pipeline you own, name the gate and who signs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31552" y="5440679"/>
            <a:ext cx="7242048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131552" y="5440679"/>
            <a:ext cx="45720" cy="128016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0" y="5522975"/>
            <a:ext cx="6702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Who approves a release?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5861303"/>
            <a:ext cx="6702552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And is it genuinely a different person from the author?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31552" y="6903719"/>
            <a:ext cx="7242048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31552" y="6903719"/>
            <a:ext cx="45720" cy="1280160"/>
          </a:xfrm>
          <a:prstGeom prst="rect">
            <a:avLst/>
          </a:prstGeom>
          <a:solidFill>
            <a:srgbClr val="00AD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0" y="6986015"/>
            <a:ext cx="6702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800" b="1">
                <a:solidFill>
                  <a:srgbClr val="00141A"/>
                </a:solidFill>
                <a:latin typeface="Arial"/>
              </a:rPr>
              <a:t>What is your rollback?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7324344"/>
            <a:ext cx="6702552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Arial"/>
              </a:rPr>
              <a:t>If it is not written down before the merge, it does not exist.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2026-08-24T14:31:57Z</dcterms:created>
  <dc:creator>PptxGenJS</dc:creator>
</cp:coreProperties>
</file>